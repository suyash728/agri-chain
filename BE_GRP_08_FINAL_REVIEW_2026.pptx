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4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88" r:id="rId14"/>
    <p:sldId id="290" r:id="rId15"/>
    <p:sldId id="267" r:id="rId16"/>
    <p:sldId id="268" r:id="rId17"/>
    <p:sldId id="269" r:id="rId18"/>
    <p:sldId id="270" r:id="rId19"/>
    <p:sldId id="271" r:id="rId20"/>
    <p:sldId id="272" r:id="rId21"/>
    <p:sldId id="277" r:id="rId22"/>
    <p:sldId id="278" r:id="rId23"/>
    <p:sldId id="289" r:id="rId24"/>
    <p:sldId id="279" r:id="rId25"/>
    <p:sldId id="280" r:id="rId26"/>
    <p:sldId id="281" r:id="rId27"/>
    <p:sldId id="282" r:id="rId28"/>
    <p:sldId id="283" r:id="rId29"/>
    <p:sldId id="284" r:id="rId30"/>
    <p:sldId id="291" r:id="rId31"/>
    <p:sldId id="292" r:id="rId32"/>
    <p:sldId id="293" r:id="rId33"/>
    <p:sldId id="296" r:id="rId34"/>
    <p:sldId id="295" r:id="rId35"/>
    <p:sldId id="294" r:id="rId36"/>
    <p:sldId id="297" r:id="rId37"/>
    <p:sldId id="285" r:id="rId38"/>
    <p:sldId id="286" r:id="rId39"/>
    <p:sldId id="287" r:id="rId4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467A970-1193-4587-A75E-64EC327A8FCE}">
  <a:tblStyle styleId="{4467A970-1193-4587-A75E-64EC327A8FC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90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20" Type="http://schemas.openxmlformats.org/officeDocument/2006/relationships/slide" Target="slides/slide18.xml"/><Relationship Id="rId4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B98C874D-7F90-5EC6-C846-1A32E426A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92F0F8F4-1050-BA96-BE44-F3A3F960050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>
            <a:extLst>
              <a:ext uri="{FF2B5EF4-FFF2-40B4-BE49-F238E27FC236}">
                <a16:creationId xmlns:a16="http://schemas.microsoft.com/office/drawing/2014/main" id="{529C06A9-BE09-0994-A8BE-A96A437E11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869727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FB7D31DE-87BE-7AC9-C294-9DE653DD4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4ECF593A-1EEA-0F48-4DE7-D95463D59E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>
            <a:extLst>
              <a:ext uri="{FF2B5EF4-FFF2-40B4-BE49-F238E27FC236}">
                <a16:creationId xmlns:a16="http://schemas.microsoft.com/office/drawing/2014/main" id="{C8B38695-1709-D6D3-B65B-D6FC49F9F63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379618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>
          <a:extLst>
            <a:ext uri="{FF2B5EF4-FFF2-40B4-BE49-F238E27FC236}">
              <a16:creationId xmlns:a16="http://schemas.microsoft.com/office/drawing/2014/main" id="{2AB343B5-7923-5E9E-0D7F-68C202927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>
            <a:extLst>
              <a:ext uri="{FF2B5EF4-FFF2-40B4-BE49-F238E27FC236}">
                <a16:creationId xmlns:a16="http://schemas.microsoft.com/office/drawing/2014/main" id="{E4AC8828-AF2F-BA15-714D-BC2B682F34F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6:notes">
            <a:extLst>
              <a:ext uri="{FF2B5EF4-FFF2-40B4-BE49-F238E27FC236}">
                <a16:creationId xmlns:a16="http://schemas.microsoft.com/office/drawing/2014/main" id="{3C48D6D8-EB70-ECB4-2B60-5ED542EE24D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733978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0DE0BA6B-92DA-55F0-74F9-3FC2718E1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>
            <a:extLst>
              <a:ext uri="{FF2B5EF4-FFF2-40B4-BE49-F238E27FC236}">
                <a16:creationId xmlns:a16="http://schemas.microsoft.com/office/drawing/2014/main" id="{C5A3222D-0C78-6784-4432-EA95F9D0D6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>
            <a:extLst>
              <a:ext uri="{FF2B5EF4-FFF2-40B4-BE49-F238E27FC236}">
                <a16:creationId xmlns:a16="http://schemas.microsoft.com/office/drawing/2014/main" id="{3877D87F-FDA0-CABC-02EE-75BB4182A0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258614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E128BC3D-F19A-E4BD-86FB-92A724C41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>
            <a:extLst>
              <a:ext uri="{FF2B5EF4-FFF2-40B4-BE49-F238E27FC236}">
                <a16:creationId xmlns:a16="http://schemas.microsoft.com/office/drawing/2014/main" id="{A0CB2668-7450-6291-C346-7610588F5E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4:notes">
            <a:extLst>
              <a:ext uri="{FF2B5EF4-FFF2-40B4-BE49-F238E27FC236}">
                <a16:creationId xmlns:a16="http://schemas.microsoft.com/office/drawing/2014/main" id="{79CEE492-7D57-8DFC-2C69-3EDF40E616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964641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A5022679-BB28-64AF-C6D4-FEDFB672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>
            <a:extLst>
              <a:ext uri="{FF2B5EF4-FFF2-40B4-BE49-F238E27FC236}">
                <a16:creationId xmlns:a16="http://schemas.microsoft.com/office/drawing/2014/main" id="{63D8949D-E526-1F7D-EE54-68754B9122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>
            <a:extLst>
              <a:ext uri="{FF2B5EF4-FFF2-40B4-BE49-F238E27FC236}">
                <a16:creationId xmlns:a16="http://schemas.microsoft.com/office/drawing/2014/main" id="{81DAE2D1-09E3-198D-8A7A-5CF9D5E7B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8806509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5">
          <a:extLst>
            <a:ext uri="{FF2B5EF4-FFF2-40B4-BE49-F238E27FC236}">
              <a16:creationId xmlns:a16="http://schemas.microsoft.com/office/drawing/2014/main" id="{F69D323D-5124-B536-48DA-3D7D96A18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4:notes">
            <a:extLst>
              <a:ext uri="{FF2B5EF4-FFF2-40B4-BE49-F238E27FC236}">
                <a16:creationId xmlns:a16="http://schemas.microsoft.com/office/drawing/2014/main" id="{F6951B20-CB55-8C7A-0EDC-C92D1884E8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24:notes">
            <a:extLst>
              <a:ext uri="{FF2B5EF4-FFF2-40B4-BE49-F238E27FC236}">
                <a16:creationId xmlns:a16="http://schemas.microsoft.com/office/drawing/2014/main" id="{C2006B3C-5A0F-45B8-27FC-54DB0167EE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7138518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3DA02FB1-578E-37A3-8114-001F817A7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>
            <a:extLst>
              <a:ext uri="{FF2B5EF4-FFF2-40B4-BE49-F238E27FC236}">
                <a16:creationId xmlns:a16="http://schemas.microsoft.com/office/drawing/2014/main" id="{FA84F84C-E7B5-AD74-F908-F124035A9E4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>
            <a:extLst>
              <a:ext uri="{FF2B5EF4-FFF2-40B4-BE49-F238E27FC236}">
                <a16:creationId xmlns:a16="http://schemas.microsoft.com/office/drawing/2014/main" id="{C6124E1B-2C32-B162-25C2-5AC06A2CAD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030483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>
          <a:extLst>
            <a:ext uri="{FF2B5EF4-FFF2-40B4-BE49-F238E27FC236}">
              <a16:creationId xmlns:a16="http://schemas.microsoft.com/office/drawing/2014/main" id="{2E908ECC-851D-1B1E-4050-939EBA566F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9:notes">
            <a:extLst>
              <a:ext uri="{FF2B5EF4-FFF2-40B4-BE49-F238E27FC236}">
                <a16:creationId xmlns:a16="http://schemas.microsoft.com/office/drawing/2014/main" id="{63EEF53D-2FE1-AA28-FF66-4AB0A56659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29:notes">
            <a:extLst>
              <a:ext uri="{FF2B5EF4-FFF2-40B4-BE49-F238E27FC236}">
                <a16:creationId xmlns:a16="http://schemas.microsoft.com/office/drawing/2014/main" id="{32CB8FF3-12C0-7B9B-1D8E-8E4AFD106C9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07256698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>
          <a:extLst>
            <a:ext uri="{FF2B5EF4-FFF2-40B4-BE49-F238E27FC236}">
              <a16:creationId xmlns:a16="http://schemas.microsoft.com/office/drawing/2014/main" id="{717F8BF8-C93D-FC4A-0F2F-A1B2082C5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>
            <a:extLst>
              <a:ext uri="{FF2B5EF4-FFF2-40B4-BE49-F238E27FC236}">
                <a16:creationId xmlns:a16="http://schemas.microsoft.com/office/drawing/2014/main" id="{179CF6B8-A52F-CC8C-C3AB-56D334D5A3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:notes">
            <a:extLst>
              <a:ext uri="{FF2B5EF4-FFF2-40B4-BE49-F238E27FC236}">
                <a16:creationId xmlns:a16="http://schemas.microsoft.com/office/drawing/2014/main" id="{6AA16886-C703-515E-BD16-0C3B02F3E6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8699655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7;p2"/>
          <p:cNvSpPr txBox="1"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None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" name="Google Shape;9;p2"/>
          <p:cNvSpPr txBox="1">
            <a:spLocks noGrp="1"/>
          </p:cNvSpPr>
          <p:nvPr>
            <p:ph type="body" idx="1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575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●"/>
              <a:defRPr sz="2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body" idx="1"/>
          </p:nvPr>
        </p:nvSpPr>
        <p:spPr>
          <a:xfrm>
            <a:off x="628560" y="1624680"/>
            <a:ext cx="7886520" cy="30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lt1"/>
        </a:solidFill>
        <a:effectLst/>
      </p:bgPr>
    </p:bg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TWO_COLUMNS" type="twoObj">
  <p:cSld name="TWO_OBJECTS">
    <p:bg>
      <p:bgPr>
        <a:solidFill>
          <a:schemeClr val="lt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body" idx="2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6860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527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860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527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Noto Sans Symbols"/>
              <a:buChar char="−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860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630"/>
              <a:buFont typeface="Noto Sans Symbols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ONLY" type="titleOnly">
  <p:cSld name="TITLE_ONLY">
    <p:bg>
      <p:bgPr>
        <a:solidFill>
          <a:schemeClr val="lt1"/>
        </a:solidFill>
        <a:effectLst/>
      </p:bgPr>
    </p:bg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28" name="Google Shape;28;p7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_COLUMN_TEXT">
  <p:cSld name="ONE_COLUMN_TEXT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body" idx="1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6289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289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_POINT">
  <p:cSld name="MAIN_POINT">
    <p:bg>
      <p:bgPr>
        <a:solidFill>
          <a:schemeClr val="lt1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  <a:defRPr sz="4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bg>
      <p:bgPr>
        <a:solidFill>
          <a:schemeClr val="lt1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0"/>
          <p:cNvSpPr txBox="1"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200"/>
              <a:buFont typeface="Arial"/>
              <a:buNone/>
              <a:defRPr sz="4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1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_ONLY">
  <p:cSld name="CAPTION_ONLY">
    <p:bg>
      <p:bgPr>
        <a:solidFill>
          <a:schemeClr val="lt1"/>
        </a:solidFill>
        <a:effectLst/>
      </p:bgPr>
    </p:bg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_NUMBER">
  <p:cSld name="BIG_NUMBER">
    <p:bg>
      <p:bgPr>
        <a:solidFill>
          <a:schemeClr val="lt1"/>
        </a:solidFill>
        <a:effectLst/>
      </p:bgPr>
    </p:bg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chemeClr val="dk2"/>
              </a:buClr>
              <a:buSzPts val="1000"/>
              <a:buFont typeface="Arial"/>
              <a:buNone/>
              <a:defRPr sz="1000" b="0" u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1" type="obj">
  <p:cSld name="OBJEC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1" name="Google Shape;51;p14"/>
          <p:cNvSpPr txBox="1">
            <a:spLocks noGrp="1"/>
          </p:cNvSpPr>
          <p:nvPr>
            <p:ph type="body" idx="1"/>
          </p:nvPr>
        </p:nvSpPr>
        <p:spPr>
          <a:xfrm>
            <a:off x="628560" y="1624680"/>
            <a:ext cx="7886520" cy="3007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 type="title">
  <p:cSld name="TITLE">
    <p:bg>
      <p:bgPr>
        <a:solidFill>
          <a:schemeClr val="lt1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 txBox="1">
            <a:spLocks noGrp="1"/>
          </p:cNvSpPr>
          <p:nvPr>
            <p:ph type="title"/>
          </p:nvPr>
        </p:nvSpPr>
        <p:spPr>
          <a:xfrm>
            <a:off x="1143000" y="841680"/>
            <a:ext cx="6857640" cy="1790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EXT" type="vertTx">
  <p:cSld name="VERTICAL_TEXT">
    <p:bg>
      <p:bgPr>
        <a:solidFill>
          <a:schemeClr val="lt1"/>
        </a:solidFill>
        <a:effectLst/>
      </p:bgPr>
    </p:bg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6"/>
          <p:cNvSpPr txBox="1"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2" name="Google Shape;62;p16"/>
          <p:cNvSpPr txBox="1">
            <a:spLocks noGrp="1"/>
          </p:cNvSpPr>
          <p:nvPr>
            <p:ph type="body" idx="1"/>
          </p:nvPr>
        </p:nvSpPr>
        <p:spPr>
          <a:xfrm rot="5400000">
            <a:off x="2940480" y="-942480"/>
            <a:ext cx="3263040" cy="7886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_TITLE_AND_VERTICAL_TEXT" type="vertTitleAndTx">
  <p:cSld name="VERTICAL_TITLE_AND_VERTICAL_TEXT">
    <p:bg>
      <p:bgPr>
        <a:solidFill>
          <a:schemeClr val="lt1"/>
        </a:solidFill>
        <a:effectLst/>
      </p:bgPr>
    </p:bg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>
            <a:spLocks noGrp="1"/>
          </p:cNvSpPr>
          <p:nvPr>
            <p:ph type="title"/>
          </p:nvPr>
        </p:nvSpPr>
        <p:spPr>
          <a:xfrm rot="5400000">
            <a:off x="5350320" y="1467360"/>
            <a:ext cx="4358520" cy="197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1"/>
          </p:nvPr>
        </p:nvSpPr>
        <p:spPr>
          <a:xfrm rot="5400000">
            <a:off x="1349640" y="-446760"/>
            <a:ext cx="4358520" cy="5800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2" type="blank">
  <p:cSld name="BLANK">
    <p:bg>
      <p:bgPr>
        <a:solidFill>
          <a:schemeClr val="lt1"/>
        </a:solid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8"/>
          <p:cNvSpPr txBox="1">
            <a:spLocks noGrp="1"/>
          </p:cNvSpPr>
          <p:nvPr>
            <p:ph type="title"/>
          </p:nvPr>
        </p:nvSpPr>
        <p:spPr>
          <a:xfrm>
            <a:off x="623880" y="1282320"/>
            <a:ext cx="7886520" cy="2139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  <a:defRPr sz="45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4" name="Google Shape;74;p18"/>
          <p:cNvSpPr txBox="1">
            <a:spLocks noGrp="1"/>
          </p:cNvSpPr>
          <p:nvPr>
            <p:ph type="body" idx="1"/>
          </p:nvPr>
        </p:nvSpPr>
        <p:spPr>
          <a:xfrm>
            <a:off x="623880" y="3441960"/>
            <a:ext cx="7886520" cy="1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5" name="Google Shape;75;p18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" type="twoObj">
  <p:cSld name="TWO_OBJECTS">
    <p:bg>
      <p:bgPr>
        <a:solidFill>
          <a:schemeClr val="lt1"/>
        </a:solidFill>
        <a:effectLst/>
      </p:bgPr>
    </p:bg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9"/>
          <p:cNvSpPr txBox="1"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0" name="Google Shape;80;p19"/>
          <p:cNvSpPr txBox="1">
            <a:spLocks noGrp="1"/>
          </p:cNvSpPr>
          <p:nvPr>
            <p:ph type="body" idx="1"/>
          </p:nvPr>
        </p:nvSpPr>
        <p:spPr>
          <a:xfrm>
            <a:off x="628560" y="1369080"/>
            <a:ext cx="3885840" cy="32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1" name="Google Shape;81;p19"/>
          <p:cNvSpPr txBox="1">
            <a:spLocks noGrp="1"/>
          </p:cNvSpPr>
          <p:nvPr>
            <p:ph type="body" idx="2"/>
          </p:nvPr>
        </p:nvSpPr>
        <p:spPr>
          <a:xfrm>
            <a:off x="4629240" y="1369080"/>
            <a:ext cx="3885840" cy="32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2" name="Google Shape;82;p19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_OBJECTS_WITH_TEXT" type="twoTxTwoObj">
  <p:cSld name="TWO_OBJECTS_WITH_TEXT">
    <p:bg>
      <p:bgPr>
        <a:solidFill>
          <a:schemeClr val="lt1"/>
        </a:solidFill>
        <a:effectLst/>
      </p:bgPr>
    </p:bg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0"/>
          <p:cNvSpPr txBox="1">
            <a:spLocks noGrp="1"/>
          </p:cNvSpPr>
          <p:nvPr>
            <p:ph type="title"/>
          </p:nvPr>
        </p:nvSpPr>
        <p:spPr>
          <a:xfrm>
            <a:off x="630000" y="273960"/>
            <a:ext cx="7886520" cy="9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7" name="Google Shape;87;p20"/>
          <p:cNvSpPr txBox="1">
            <a:spLocks noGrp="1"/>
          </p:cNvSpPr>
          <p:nvPr>
            <p:ph type="body" idx="1"/>
          </p:nvPr>
        </p:nvSpPr>
        <p:spPr>
          <a:xfrm>
            <a:off x="630000" y="1260720"/>
            <a:ext cx="3868200" cy="61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8" name="Google Shape;88;p20"/>
          <p:cNvSpPr txBox="1">
            <a:spLocks noGrp="1"/>
          </p:cNvSpPr>
          <p:nvPr>
            <p:ph type="body" idx="2"/>
          </p:nvPr>
        </p:nvSpPr>
        <p:spPr>
          <a:xfrm>
            <a:off x="630000" y="1878840"/>
            <a:ext cx="3868200" cy="276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3"/>
          </p:nvPr>
        </p:nvSpPr>
        <p:spPr>
          <a:xfrm>
            <a:off x="4629240" y="1260720"/>
            <a:ext cx="3886920" cy="617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body" idx="4"/>
          </p:nvPr>
        </p:nvSpPr>
        <p:spPr>
          <a:xfrm>
            <a:off x="4629240" y="1878840"/>
            <a:ext cx="3886920" cy="276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88608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28613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8607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28613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575"/>
              <a:buFont typeface="Noto Sans Symbols"/>
              <a:buChar char="−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8608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945"/>
              <a:buFont typeface="Noto Sans Symbols"/>
              <a:buChar char="●"/>
              <a:defRPr sz="2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3" type="titleOnly">
  <p:cSld name="TITLE_ONLY">
    <p:bg>
      <p:bgPr>
        <a:solidFill>
          <a:schemeClr val="lt1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1"/>
          <p:cNvSpPr txBox="1">
            <a:spLocks noGrp="1"/>
          </p:cNvSpPr>
          <p:nvPr>
            <p:ph type="title"/>
          </p:nvPr>
        </p:nvSpPr>
        <p:spPr>
          <a:xfrm>
            <a:off x="628560" y="273960"/>
            <a:ext cx="7886520" cy="993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  <a:defRPr sz="3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6" name="Google Shape;96;p21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7" name="Google Shape;97;p21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 4">
  <p:cSld name="Default 4">
    <p:bg>
      <p:bgPr>
        <a:solidFill>
          <a:schemeClr val="lt1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2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1" name="Google Shape;101;p22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2" name="Google Shape;102;p22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JECT_WITH_CAPTION_TEXT" type="objTx">
  <p:cSld name="OBJECT_WITH_CAPTION_TEXT">
    <p:bg>
      <p:bgPr>
        <a:solidFill>
          <a:schemeClr val="lt1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3"/>
          <p:cNvSpPr txBox="1"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body" idx="1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9718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718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Noto Sans Symbols"/>
              <a:buChar char="−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718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1080"/>
              <a:buFont typeface="Noto Sans Symbols"/>
              <a:buChar char="●"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2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6289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289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7" name="Google Shape;107;p23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8" name="Google Shape;108;p23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09" name="Google Shape;109;p23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_WITH_CAPTION_TEXT" type="picTx">
  <p:cSld name="PICTURE_WITH_CAPTION_TEXT">
    <p:bg>
      <p:bgPr>
        <a:solidFill>
          <a:schemeClr val="lt1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630000" y="343080"/>
            <a:ext cx="2948760" cy="1199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b" anchorCtr="0">
            <a:norm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3887280" y="740520"/>
            <a:ext cx="4628880" cy="365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rmAutofit/>
          </a:bodyPr>
          <a:lstStyle>
            <a:lvl1pPr marL="457200" marR="0" lvl="0" indent="-280035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4325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80035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4325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80035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3" name="Google Shape;113;p24"/>
          <p:cNvSpPr txBox="1">
            <a:spLocks noGrp="1"/>
          </p:cNvSpPr>
          <p:nvPr>
            <p:ph type="body" idx="2"/>
          </p:nvPr>
        </p:nvSpPr>
        <p:spPr>
          <a:xfrm>
            <a:off x="630000" y="1542960"/>
            <a:ext cx="2948760" cy="28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/>
          </a:bodyPr>
          <a:lstStyle>
            <a:lvl1pPr marL="457200" marR="0" lvl="0" indent="-262890" algn="l" rtl="0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85750" algn="l" rtl="0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62890" algn="l" rtl="0">
              <a:spcBef>
                <a:spcPts val="850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85750" algn="l" rtl="0">
              <a:spcBef>
                <a:spcPts val="567"/>
              </a:spcBef>
              <a:spcAft>
                <a:spcPts val="0"/>
              </a:spcAft>
              <a:buClr>
                <a:srgbClr val="000000"/>
              </a:buClr>
              <a:buSzPts val="900"/>
              <a:buFont typeface="Noto Sans Symbols"/>
              <a:buChar char="−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62890" algn="l" rtl="0">
              <a:spcBef>
                <a:spcPts val="283"/>
              </a:spcBef>
              <a:spcAft>
                <a:spcPts val="0"/>
              </a:spcAft>
              <a:buClr>
                <a:srgbClr val="000000"/>
              </a:buClr>
              <a:buSzPts val="540"/>
              <a:buFont typeface="Noto Sans Symbols"/>
              <a:buChar char="●"/>
              <a:defRPr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4" name="Google Shape;114;p24"/>
          <p:cNvSpPr txBox="1">
            <a:spLocks noGrp="1"/>
          </p:cNvSpPr>
          <p:nvPr>
            <p:ph type="dt" idx="10"/>
          </p:nvPr>
        </p:nvSpPr>
        <p:spPr>
          <a:xfrm>
            <a:off x="62856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5" name="Google Shape;115;p24"/>
          <p:cNvSpPr txBox="1">
            <a:spLocks noGrp="1"/>
          </p:cNvSpPr>
          <p:nvPr>
            <p:ph type="ftr" idx="11"/>
          </p:nvPr>
        </p:nvSpPr>
        <p:spPr>
          <a:xfrm>
            <a:off x="3029040" y="4767120"/>
            <a:ext cx="308592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sz="1400" b="0" u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116" name="Google Shape;116;p24"/>
          <p:cNvSpPr txBox="1">
            <a:spLocks noGrp="1"/>
          </p:cNvSpPr>
          <p:nvPr>
            <p:ph type="sldNum" idx="12"/>
          </p:nvPr>
        </p:nvSpPr>
        <p:spPr>
          <a:xfrm>
            <a:off x="6458040" y="4767120"/>
            <a:ext cx="2057040" cy="27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buClr>
                <a:srgbClr val="888888"/>
              </a:buClr>
              <a:buSzPts val="900"/>
              <a:buFont typeface="Calibri"/>
              <a:buNone/>
              <a:defRPr sz="900" b="0" u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5"/>
          <p:cNvSpPr txBox="1">
            <a:spLocks noGrp="1"/>
          </p:cNvSpPr>
          <p:nvPr>
            <p:ph type="title"/>
          </p:nvPr>
        </p:nvSpPr>
        <p:spPr>
          <a:xfrm>
            <a:off x="159840" y="1285920"/>
            <a:ext cx="8823960" cy="10932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IN" sz="2200" b="1" u="none" strike="noStrik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“A Decentralized IoT-Blockchain Framework with Customized Smart Contracts for Transparent and Traceable Agricultural Supply Chains</a:t>
            </a:r>
            <a:r>
              <a:rPr lang="en-IN" sz="2200" b="0" u="none" strike="noStrik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”</a:t>
            </a:r>
            <a:endParaRPr sz="22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22" name="Google Shape;122;p25"/>
          <p:cNvSpPr txBox="1">
            <a:spLocks noGrp="1"/>
          </p:cNvSpPr>
          <p:nvPr>
            <p:ph type="subTitle" idx="1"/>
          </p:nvPr>
        </p:nvSpPr>
        <p:spPr>
          <a:xfrm>
            <a:off x="311760" y="2571750"/>
            <a:ext cx="8520120" cy="2208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</a:pP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Presented By </a:t>
            </a:r>
            <a:endParaRPr sz="13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</a:pPr>
            <a:r>
              <a:rPr lang="en-IN" sz="1300" b="1" i="0" u="none" strike="noStrike" cap="none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Kerkar</a:t>
            </a: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Suyash Satish		(TU8S2425003)</a:t>
            </a:r>
            <a:endParaRPr sz="13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</a:pPr>
            <a:r>
              <a:rPr lang="en-IN" sz="1300" b="1" i="0" u="none" strike="noStrike" cap="none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Esaf</a:t>
            </a: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Shanum Shakil		(TU8S2425004)</a:t>
            </a:r>
            <a:endParaRPr sz="13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</a:pP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Patil Rutuja Sanjeev		(TU8S2425006)</a:t>
            </a:r>
            <a:endParaRPr sz="13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0" marR="0" lvl="0" indent="0" algn="ctr" rtl="0">
              <a:lnSpc>
                <a:spcPct val="110000"/>
              </a:lnSpc>
              <a:spcBef>
                <a:spcPts val="1001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</a:pP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Doctor </a:t>
            </a:r>
            <a:r>
              <a:rPr lang="en-IN" sz="1300" b="1" i="0" u="none" strike="noStrike" cap="none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Umerkhan</a:t>
            </a: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1300" b="1" i="0" u="none" strike="noStrike" cap="none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Junaidkhan</a:t>
            </a: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	(TU8S2425008)</a:t>
            </a:r>
            <a:br>
              <a:rPr lang="en-IN" sz="1300" b="0" i="0" u="none" strike="noStrike" cap="none" dirty="0">
                <a:solidFill>
                  <a:srgbClr val="000000"/>
                </a:solidFill>
                <a:latin typeface="Georgia" panose="02040502050405020303" pitchFamily="18" charset="0"/>
                <a:sym typeface="Arial"/>
              </a:rPr>
            </a:br>
            <a:br>
              <a:rPr lang="en-IN" sz="1300" b="0" i="0" u="none" strike="noStrike" cap="none" dirty="0">
                <a:solidFill>
                  <a:srgbClr val="000000"/>
                </a:solidFill>
                <a:latin typeface="Georgia" panose="02040502050405020303" pitchFamily="18" charset="0"/>
                <a:sym typeface="Arial"/>
              </a:rPr>
            </a:br>
            <a:r>
              <a:rPr lang="en-IN" sz="130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Under the Guidance of</a:t>
            </a:r>
            <a:br>
              <a:rPr lang="en-IN" sz="1300" b="1" i="0" u="none" strike="noStrike" cap="none" dirty="0">
                <a:solidFill>
                  <a:srgbClr val="000000"/>
                </a:solidFill>
                <a:latin typeface="Georgia" panose="02040502050405020303" pitchFamily="18" charset="0"/>
                <a:sym typeface="Arial"/>
              </a:rPr>
            </a:br>
            <a:r>
              <a:rPr lang="en-IN" sz="13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Prof. Shraddha Rokade</a:t>
            </a:r>
            <a:endParaRPr sz="1300" b="1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pic>
        <p:nvPicPr>
          <p:cNvPr id="123" name="Google Shape;123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3640" cy="12859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6"/>
          <p:cNvSpPr txBox="1">
            <a:spLocks noGrp="1"/>
          </p:cNvSpPr>
          <p:nvPr>
            <p:ph type="title"/>
          </p:nvPr>
        </p:nvSpPr>
        <p:spPr>
          <a:xfrm>
            <a:off x="628560" y="850680"/>
            <a:ext cx="7886520" cy="608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Agenda</a:t>
            </a:r>
            <a:endParaRPr sz="3200" b="0" u="none" strike="noStrike" dirty="0">
              <a:solidFill>
                <a:srgbClr val="C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29" name="Google Shape;129;p26"/>
          <p:cNvSpPr txBox="1">
            <a:spLocks noGrp="1"/>
          </p:cNvSpPr>
          <p:nvPr>
            <p:ph type="body" idx="1"/>
          </p:nvPr>
        </p:nvSpPr>
        <p:spPr>
          <a:xfrm>
            <a:off x="628560" y="1459440"/>
            <a:ext cx="7886520" cy="34236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Introduction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65"/>
              <a:buChar char="●"/>
            </a:pPr>
            <a:r>
              <a:rPr lang="en-IN" sz="1565" dirty="0"/>
              <a:t>P</a:t>
            </a: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roblem Statement 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Objectives</a:t>
            </a:r>
            <a:endParaRPr sz="1565" dirty="0">
              <a:solidFill>
                <a:srgbClr val="1F1F1F"/>
              </a:solidFill>
              <a:highlight>
                <a:srgbClr val="F8F9FA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Scope 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Literature Survey 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Methodology &amp; Flow Chart of Project Work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Software &amp; Hardware Requirement Specification 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Use Case Diagram</a:t>
            </a:r>
            <a:endParaRPr sz="1565" dirty="0"/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b="0" i="0" u="none" strike="noStrike" cap="none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Design and Implementation</a:t>
            </a:r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Results</a:t>
            </a:r>
            <a:endParaRPr sz="1565" b="0" i="0" u="none" strike="noStrike" cap="none" dirty="0">
              <a:solidFill>
                <a:srgbClr val="1F1F1F"/>
              </a:solidFill>
              <a:highlight>
                <a:srgbClr val="F8F9FA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Conclusion</a:t>
            </a:r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Future Scope</a:t>
            </a:r>
            <a:endParaRPr sz="1565" dirty="0">
              <a:solidFill>
                <a:srgbClr val="1F1F1F"/>
              </a:solidFill>
              <a:highlight>
                <a:srgbClr val="F8F9FA"/>
              </a:highlight>
              <a:latin typeface="Georgia"/>
              <a:ea typeface="Georgia"/>
              <a:cs typeface="Georgia"/>
              <a:sym typeface="Georgia"/>
            </a:endParaRPr>
          </a:p>
          <a:p>
            <a:pPr marL="457200" marR="0" lvl="0" indent="-327978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565"/>
              <a:buFont typeface="Georgia"/>
              <a:buChar char="●"/>
            </a:pPr>
            <a:r>
              <a:rPr lang="en-IN" sz="1565" dirty="0">
                <a:solidFill>
                  <a:srgbClr val="1F1F1F"/>
                </a:solidFill>
                <a:highlight>
                  <a:srgbClr val="F8F9FA"/>
                </a:highlight>
                <a:latin typeface="Georgia"/>
                <a:ea typeface="Georgia"/>
                <a:cs typeface="Georgia"/>
                <a:sym typeface="Georgia"/>
              </a:rPr>
              <a:t>References</a:t>
            </a:r>
            <a:endParaRPr sz="1565" dirty="0">
              <a:solidFill>
                <a:srgbClr val="1F1F1F"/>
              </a:solidFill>
              <a:highlight>
                <a:srgbClr val="F8F9FA"/>
              </a:highlight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7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Introduction</a:t>
            </a:r>
            <a:endParaRPr sz="24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35" name="Google Shape;135;p27"/>
          <p:cNvSpPr txBox="1">
            <a:spLocks noGrp="1"/>
          </p:cNvSpPr>
          <p:nvPr>
            <p:ph type="body" idx="1"/>
          </p:nvPr>
        </p:nvSpPr>
        <p:spPr>
          <a:xfrm>
            <a:off x="323280" y="1490040"/>
            <a:ext cx="8496720" cy="3215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457200" marR="0" lvl="0" indent="-36180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Agricultural supply chains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involve multiple stakeholders, making product origin, quality, transactions, and farmer payments difficult to track transparently. </a:t>
            </a:r>
            <a:endParaRPr sz="18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457200" marR="0" lvl="0" indent="-361800" algn="just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IoT sensors and blockchain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can provide real-time data and immutable records, but blockchain alone cannot verify whether the incoming sensor data is trustworthy. </a:t>
            </a:r>
            <a:endParaRPr sz="18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457200" marR="0" lvl="0" indent="-361800" algn="just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Our proposed system introduces an 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AI Trust Layer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to validate IoT data before recording it on the blockchain, while 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customized smart contracts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manage traceability, custody, quality, and payment-related transactions. </a:t>
            </a:r>
            <a:endParaRPr sz="18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457200" marR="0" lvl="0" indent="-361800" algn="just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Char char="•"/>
            </a:pP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The system aims to achieve 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transparent, trustworthy, end-to-end agricultural traceability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while improving </a:t>
            </a:r>
            <a:r>
              <a:rPr lang="en-IN" sz="1800" b="1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payment transparency and fairness for farmers</a:t>
            </a:r>
            <a:r>
              <a:rPr lang="en-IN" sz="18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.</a:t>
            </a:r>
            <a:endParaRPr sz="18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95400" marR="0" lvl="0" indent="0" algn="just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8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Problem</a:t>
            </a:r>
            <a:r>
              <a:rPr lang="en-IN" sz="2400" b="0" u="none" strike="noStrik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Statement</a:t>
            </a:r>
            <a:endParaRPr sz="24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41" name="Google Shape;141;p28"/>
          <p:cNvSpPr txBox="1">
            <a:spLocks noGrp="1"/>
          </p:cNvSpPr>
          <p:nvPr>
            <p:ph type="body" idx="1"/>
          </p:nvPr>
        </p:nvSpPr>
        <p:spPr>
          <a:xfrm>
            <a:off x="446040" y="1542960"/>
            <a:ext cx="8370360" cy="3035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rmAutofit lnSpcReduction="10000"/>
          </a:bodyPr>
          <a:lstStyle/>
          <a:p>
            <a:pPr marL="95400" marR="0" lvl="0" indent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</a:pPr>
            <a:r>
              <a:rPr lang="en-IN" sz="2100" b="0" i="0" u="none" strike="noStrike" cap="none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Traditional agricultural supply chains rely on fragmented, siloed record-keeping that leaves farmers, processors, distributors, retailers and consumers without real-time visibility or trust in product origin and quality. This lack of transparency enables food fraud, delayed recalls and poor accountability, while existing blockchain-based solutions remain proof-of-concept, still facing scalability, interoperability, smart-contract security and off-chain data-trust challenges. There is a need to design and implement a scalable, secure blockchain system with customized smart contracts that delivers real, end-to-end traceability across the agricultural supply chain.</a:t>
            </a:r>
            <a:endParaRPr sz="21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  <a:p>
            <a:pPr marL="95400" marR="0" lvl="0" indent="0" algn="just" rtl="0">
              <a:lnSpc>
                <a:spcPct val="90000"/>
              </a:lnSpc>
              <a:spcBef>
                <a:spcPts val="799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Objectives</a:t>
            </a:r>
            <a:endParaRPr sz="22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47" name="Google Shape;147;p29"/>
          <p:cNvSpPr txBox="1">
            <a:spLocks noGrp="1"/>
          </p:cNvSpPr>
          <p:nvPr>
            <p:ph type="body" idx="1"/>
          </p:nvPr>
        </p:nvSpPr>
        <p:spPr>
          <a:xfrm>
            <a:off x="118980" y="1489680"/>
            <a:ext cx="8905680" cy="348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lvl="0" algn="just"/>
            <a:r>
              <a:rPr lang="en-IN" sz="1400" b="1" dirty="0">
                <a:latin typeface="Georgia" panose="02040502050405020303" pitchFamily="18" charset="0"/>
              </a:rPr>
              <a:t>AI-Powered IoT Validation:</a:t>
            </a:r>
            <a:r>
              <a:rPr lang="en-IN" sz="1400" dirty="0">
                <a:latin typeface="Georgia" panose="02040502050405020303" pitchFamily="18" charset="0"/>
              </a:rPr>
              <a:t> Filter anomalous, drifted, or spoofed sensor telemetry before on-chain entry using physical plausibility bounds and an </a:t>
            </a:r>
            <a:r>
              <a:rPr lang="en-IN" sz="1400" b="1" dirty="0">
                <a:latin typeface="Georgia" panose="02040502050405020303" pitchFamily="18" charset="0"/>
              </a:rPr>
              <a:t>Isolation Forest</a:t>
            </a:r>
            <a:r>
              <a:rPr lang="en-IN" sz="1400" dirty="0">
                <a:latin typeface="Georgia" panose="02040502050405020303" pitchFamily="18" charset="0"/>
              </a:rPr>
              <a:t> ML model.</a:t>
            </a:r>
          </a:p>
          <a:p>
            <a:pPr lvl="0" algn="just"/>
            <a:r>
              <a:rPr lang="en-IN" sz="1400" b="1" dirty="0">
                <a:latin typeface="Georgia" panose="02040502050405020303" pitchFamily="18" charset="0"/>
              </a:rPr>
              <a:t>Tamper-Proof Custody Tracking:</a:t>
            </a:r>
            <a:r>
              <a:rPr lang="en-IN" sz="1400" dirty="0">
                <a:latin typeface="Georgia" panose="02040502050405020303" pitchFamily="18" charset="0"/>
              </a:rPr>
              <a:t> Enforce strict forward-only batch lifecycle transitions (REGISTERED → IN_TRANSIT → IN_STORAGE → AT_RETAIL → SOLD) using EVM smart contracts.</a:t>
            </a:r>
          </a:p>
          <a:p>
            <a:pPr lvl="0" algn="just"/>
            <a:r>
              <a:rPr lang="en-IN" sz="1400" b="1" dirty="0">
                <a:latin typeface="Georgia" panose="02040502050405020303" pitchFamily="18" charset="0"/>
              </a:rPr>
              <a:t>Automated Cold-Chain SLA Enforcement:</a:t>
            </a:r>
            <a:r>
              <a:rPr lang="en-IN" sz="1400" dirty="0">
                <a:latin typeface="Georgia" panose="02040502050405020303" pitchFamily="18" charset="0"/>
              </a:rPr>
              <a:t> Continuously monitor ambient conditions (temperature, humidity) and automatically compute dynamic penalties for environmental SLA breaches.</a:t>
            </a:r>
          </a:p>
          <a:p>
            <a:pPr lvl="0" algn="just"/>
            <a:r>
              <a:rPr lang="en-IN" sz="1400" b="1" dirty="0">
                <a:latin typeface="Georgia" panose="02040502050405020303" pitchFamily="18" charset="0"/>
              </a:rPr>
              <a:t>Fair &amp; Transparent Farmer Payments:</a:t>
            </a:r>
            <a:r>
              <a:rPr lang="en-IN" sz="1400" dirty="0">
                <a:latin typeface="Georgia" panose="02040502050405020303" pitchFamily="18" charset="0"/>
              </a:rPr>
              <a:t> Guarantee secure, intermediary-free escrow settlements with direct-to-farmer payouts in integer currency units (paise).</a:t>
            </a:r>
          </a:p>
          <a:p>
            <a:pPr lvl="0" algn="just"/>
            <a:r>
              <a:rPr lang="en-IN" sz="1400" b="1" dirty="0">
                <a:latin typeface="Georgia" panose="02040502050405020303" pitchFamily="18" charset="0"/>
              </a:rPr>
              <a:t>Consumer Verification &amp; Auditability:</a:t>
            </a:r>
            <a:r>
              <a:rPr lang="en-IN" sz="1400" dirty="0">
                <a:latin typeface="Georgia" panose="02040502050405020303" pitchFamily="18" charset="0"/>
              </a:rPr>
              <a:t> Enable instant QR-code provenance inspection for consumers and real-time quarantine audit trails for all supply chain participants.</a:t>
            </a:r>
          </a:p>
          <a:p>
            <a:pPr marL="95400" indent="0" algn="just">
              <a:lnSpc>
                <a:spcPct val="90000"/>
              </a:lnSpc>
              <a:spcBef>
                <a:spcPts val="799"/>
              </a:spcBef>
              <a:buClr>
                <a:schemeClr val="dk1"/>
              </a:buClr>
              <a:buSzPts val="1600"/>
              <a:buNone/>
            </a:pPr>
            <a:endParaRPr sz="1500" b="0" i="0" u="none" strike="noStrike" cap="non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Scope</a:t>
            </a:r>
            <a:endParaRPr sz="24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C78F9A0-5C75-7625-6672-80F5371F8B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2282513"/>
              </p:ext>
            </p:extLst>
          </p:nvPr>
        </p:nvGraphicFramePr>
        <p:xfrm>
          <a:off x="260194" y="1535430"/>
          <a:ext cx="8668216" cy="336367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34108">
                  <a:extLst>
                    <a:ext uri="{9D8B030D-6E8A-4147-A177-3AD203B41FA5}">
                      <a16:colId xmlns:a16="http://schemas.microsoft.com/office/drawing/2014/main" val="1771130598"/>
                    </a:ext>
                  </a:extLst>
                </a:gridCol>
                <a:gridCol w="4334108">
                  <a:extLst>
                    <a:ext uri="{9D8B030D-6E8A-4147-A177-3AD203B41FA5}">
                      <a16:colId xmlns:a16="http://schemas.microsoft.com/office/drawing/2014/main" val="824693911"/>
                    </a:ext>
                  </a:extLst>
                </a:gridCol>
              </a:tblGrid>
              <a:tr h="84091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Farmer-Centric Supply Chain: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Direct market access with fair grower pricing.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Product &amp; Custody Tracking: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Strict sequential transitions (REGISTERED to SOLD).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26876906"/>
                  </a:ext>
                </a:extLst>
              </a:tr>
              <a:tr h="84091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AI Sensor Validation: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Pre-chain filtering of faulty/spoofed IoT telemetry via ML.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Transparent Records: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Tamper-evident ledger of all events and hashes.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939964"/>
                  </a:ext>
                </a:extLst>
              </a:tr>
              <a:tr h="84091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Blockchain Traceability: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Immutable batch provenance and cryptographic audit logs.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Farmer Payment Transparency: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Automated escrow releases with zero unfair deductions.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0556411"/>
                  </a:ext>
                </a:extLst>
              </a:tr>
              <a:tr h="840918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Custom Smart Contracts: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Enforces SLA penalty rules and custody handoffs in Solidity.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QR Farm-to-Consumer: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Instant consumer mobile scan for origin and trust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152406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31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Literature</a:t>
            </a:r>
            <a:r>
              <a:rPr lang="en-IN" sz="4000" b="0" u="none" strike="noStrike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Survey</a:t>
            </a:r>
            <a:endParaRPr sz="4000" b="0" u="none" strike="noStrike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3" name="Google Shape;163;p32"/>
          <p:cNvGraphicFramePr/>
          <p:nvPr>
            <p:extLst>
              <p:ext uri="{D42A27DB-BD31-4B8C-83A1-F6EECF244321}">
                <p14:modId xmlns:p14="http://schemas.microsoft.com/office/powerpoint/2010/main" val="2899737649"/>
              </p:ext>
            </p:extLst>
          </p:nvPr>
        </p:nvGraphicFramePr>
        <p:xfrm>
          <a:off x="60120" y="861120"/>
          <a:ext cx="9022675" cy="4179450"/>
        </p:xfrm>
        <a:graphic>
          <a:graphicData uri="http://schemas.openxmlformats.org/drawingml/2006/table">
            <a:tbl>
              <a:tblPr>
                <a:noFill/>
                <a:tableStyleId>{4467A970-1193-4587-A75E-64EC327A8FCE}</a:tableStyleId>
              </a:tblPr>
              <a:tblGrid>
                <a:gridCol w="27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28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2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4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543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43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2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RefNo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Author(s) &amp; Year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4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Technology for Global Supply Chain Management: A Survey of Applications, Challenges, Opportunities and Implications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Dudczyk, Dunston &amp; Crosby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in Global Supply Chains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Reviews blockchain applications and benefits for global supply-chain transparency and traceability.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Lacks agriculture-specific evaluation.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Revolutionizing Agri-Food Supply Chain Management with Blockchain-Based Traceability and Navigation Integration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Aggarwal, Rani, Rani &amp; Sharma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in Agri-food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Provides blockchain-based traceability and navigation for food provenance and consumer trust.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Scalability concerns in large-scale deployment.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High-Efficiency Blockchain-Based Supply Chain Traceability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Wu, Jiang &amp; Cao (2023)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Traceability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Improves efficiency of blockchain-based supply-chain traceability by reducing search latency and storage overhead.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Limited real-world/large-scale validation.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78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Integrating Blockchain Technology for Enhanced Transparency and Security in Supply Chains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Chaker &amp; Damak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for Supply Chain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Discusses blockchain integration for supply-chain transparency and security.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Mostly conceptual; limited quantitative evidence.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409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Demystifying the Impact of Blockchain on Trust in Emerging and Established Relationships: A Case of Organic Food Supply Chains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Yavaprabhas, Kurnia, Seyedghorban &amp; Samson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in Organic Food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9250" marR="39250" marT="19450" marB="194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Examines how blockchain can improve trust in organic food supply-chain relationships.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Findings are context-specific to organic food.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7350" marR="27350" marT="13675" marB="1367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8" name="Google Shape;168;p33"/>
          <p:cNvGraphicFramePr/>
          <p:nvPr>
            <p:extLst>
              <p:ext uri="{D42A27DB-BD31-4B8C-83A1-F6EECF244321}">
                <p14:modId xmlns:p14="http://schemas.microsoft.com/office/powerpoint/2010/main" val="741158988"/>
              </p:ext>
            </p:extLst>
          </p:nvPr>
        </p:nvGraphicFramePr>
        <p:xfrm>
          <a:off x="106560" y="899280"/>
          <a:ext cx="8960400" cy="4098650"/>
        </p:xfrm>
        <a:graphic>
          <a:graphicData uri="http://schemas.openxmlformats.org/drawingml/2006/table">
            <a:tbl>
              <a:tblPr>
                <a:noFill/>
                <a:tableStyleId>{4467A970-1193-4587-A75E-64EC327A8FCE}</a:tableStyleId>
              </a:tblPr>
              <a:tblGrid>
                <a:gridCol w="3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40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4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20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RefNo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Author(s) &amp; Year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275" marR="44275" marT="21950" marB="219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Optimizing Supply Chain Management With IoE and AI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Agrawal, Aronkar, Palav, Badre, Karumuri &amp; Bagale (2025)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IoE &amp; AI in SCM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275" marR="44275" marT="21950" marB="219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Explores AI and Internet of Everything for supply-chain optimization and decision-making.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Lacks empirical validation in agricultural contexts.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0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Zero-Day Exploits Detection with Adaptive WavePCA-Autoencoder (AWPA) Adaptive Hybrid Exploit Detection Network (AHEDNet)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Mohamed, Al-Saleh, Sharma &amp; Tejani (2025)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ML-Based Security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275" marR="44275" marT="21950" marB="219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Uses a hybrid ML approach for proactive zero-day exploit detection.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Requires high-quality, large training datasets.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48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 Novel Malware Detection Model in the Software Supply Chain Based on LSTM and SVMs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Zhou, Li, Fu &amp; Jiao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ML Malware Detection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275" marR="44275" marT="21950" marB="219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Uses LSTM and SVM-based models for malware detection.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Higher model complexity increases deployment cost.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048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Harnessing Advanced Hybrid Deep Learning Model for Real-Time Detection and Prevention of Man-in-the-Middle Cyber Attacks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Kandasamy &amp; Roseline (2025)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Deep Learning Security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4275" marR="44275" marT="21950" marB="219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Applies hybrid deep learning for real-time MITM attack detection and prevention.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Computationally intensive for constrained devices.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6350" marR="36350" marT="18000" marB="1800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3" name="Google Shape;173;p34"/>
          <p:cNvGraphicFramePr/>
          <p:nvPr>
            <p:extLst>
              <p:ext uri="{D42A27DB-BD31-4B8C-83A1-F6EECF244321}">
                <p14:modId xmlns:p14="http://schemas.microsoft.com/office/powerpoint/2010/main" val="2294989929"/>
              </p:ext>
            </p:extLst>
          </p:nvPr>
        </p:nvGraphicFramePr>
        <p:xfrm>
          <a:off x="91440" y="899280"/>
          <a:ext cx="8975900" cy="4136875"/>
        </p:xfrm>
        <a:graphic>
          <a:graphicData uri="http://schemas.openxmlformats.org/drawingml/2006/table">
            <a:tbl>
              <a:tblPr>
                <a:noFill/>
                <a:tableStyleId>{4467A970-1193-4587-A75E-64EC327A8FCE}</a:tableStyleId>
              </a:tblPr>
              <a:tblGrid>
                <a:gridCol w="29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29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10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1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RefNo.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Author(s) &amp; Year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1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Secure Pharmaceutical Supply Chain Using Blockchain in IoT Cloud Systems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Mangala, Naveen, Reddy, Buyya, Venugopal, Iyengar &amp; Patnaik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+ IoT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Integrates blockchain with IoT-cloud systems for secure authentication and anti-counterfeiting.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High system complexity limits adoption.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8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Enhancing Supply Chain Resilience and Efficiency Through Internet of Things Integration: Challenges and Opportunities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Shoomal, Jahanbakht, Componation &amp; Ozay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IoT-Enabled SCM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Shows how IoT improves supply-chain resilience, efficiency and coordination.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Data privacy risks remain unresolved.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28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Supply Chain Management Growth With the Adoption of Blockchain Technology (BoT) and Internet of Things (IoT)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Singh &amp; Dadhich (2023)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+ IoT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Presents a model showing improved supply-chain coordination and visibility through Blockchain + IoT.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Lacks real implementation and empirical testing.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7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Blockchain-Driven Security for IoT Networks: State-of-the-Art, Challenges and Future Directions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Maurya, Rishiwal, Yadav, Shiblee, Yadav, Agarwal &amp; Chaudhry (2025)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IoT Security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Reviews blockchain-based approaches for improving IoT security and data protection.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Introduces computational overhead.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321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Enhancing IoT Data Security: Using the Blockchain to Boost Data Integrity and Privacy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Eghmazi, Ataei, Landry &amp; Chevrette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IoT Data Security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1400" marR="41400" marT="20525" marB="205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Uses blockchain to improve IoT data integrity, privacy and security.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Scalability with high sensor-data volume is not fully addressed.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30600" marR="30600" marT="15125" marB="15125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8" name="Google Shape;178;p35"/>
          <p:cNvGraphicFramePr/>
          <p:nvPr>
            <p:extLst>
              <p:ext uri="{D42A27DB-BD31-4B8C-83A1-F6EECF244321}">
                <p14:modId xmlns:p14="http://schemas.microsoft.com/office/powerpoint/2010/main" val="2375261275"/>
              </p:ext>
            </p:extLst>
          </p:nvPr>
        </p:nvGraphicFramePr>
        <p:xfrm>
          <a:off x="64800" y="815400"/>
          <a:ext cx="9013675" cy="4205175"/>
        </p:xfrm>
        <a:graphic>
          <a:graphicData uri="http://schemas.openxmlformats.org/drawingml/2006/table">
            <a:tbl>
              <a:tblPr>
                <a:noFill/>
                <a:tableStyleId>{4467A970-1193-4587-A75E-64EC327A8FCE}</a:tableStyleId>
              </a:tblPr>
              <a:tblGrid>
                <a:gridCol w="329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32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3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868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801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394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RefNo.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Paper Title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Author(s) &amp; Year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Focus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Key Contribution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Limitation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0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Revolutionizing Agri-Food Supply Chain Management with Blockchain-Based Traceability and Navigation Integration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Aggarwal, Rani, Rani &amp; Sharma (2024)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Agri-food Traceability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Improves end-to-end food provenance, traceability and consumer trust.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Scalability concerns in large-scale deployment.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Demystifying the Impact of Blockchain on Trust in Emerging and Established Relationships: A Case of Organic Food Supply Chains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Yavaprabhas, Kurnia, Seyedghorban &amp; Samson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Organic Food Supply Chain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Demonstrates blockchain's role in strengthening trust within organic food supply chains.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Findings are specific to organic food case studies.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Optimizing Supply Chain Management With IoE and AI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Agrawal, Aronkar, Palav, Badre, Karumuri &amp; Bagale (2025)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AI in Supply Chain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Explores AI and IoE for supply-chain optimization.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Lacks empirical validation in agricultural contexts.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1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Enhancing Supply Chain Resilience and Efficiency Through Internet of Things Integration: Challenges and Opportunities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Shoomal, Jahanbakht, Componation &amp; Ozay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IoT Supply Chain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Highlights IoT applications for real-time tracking and improved supply-chain resilience, including agri-food chains.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Privacy, interoperability and scalability challenges.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9554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1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Blockchain Technology for Global Supply Chain Management: A Survey of Applications, Challenges, Opportunities and Implications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Dudczyk, Dunston &amp; Crosby (2024)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Global Supply Chain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40325" marR="40325" marT="20150" marB="201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Identifies blockchain's benefits for transparency and traceability across supply chains.</a:t>
                      </a:r>
                      <a:endParaRPr sz="1000" b="0" u="none" strike="noStrike" cap="none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000" b="0" u="none" strike="noStrike" cap="none" dirty="0">
                          <a:solidFill>
                            <a:schemeClr val="dk1"/>
                          </a:solidFill>
                          <a:latin typeface="Georgia" panose="02040502050405020303" pitchFamily="18" charset="0"/>
                          <a:ea typeface="Times New Roman"/>
                          <a:cs typeface="Times New Roman"/>
                          <a:sym typeface="Times New Roman"/>
                        </a:rPr>
                        <a:t>Does not specifically evaluate agricultural applications.</a:t>
                      </a:r>
                      <a:endParaRPr sz="1000" b="0" u="none" strike="noStrike" cap="none" dirty="0">
                        <a:solidFill>
                          <a:srgbClr val="000000"/>
                        </a:solidFill>
                        <a:latin typeface="Georgia" panose="02040502050405020303" pitchFamily="18" charset="0"/>
                        <a:ea typeface="Arial"/>
                        <a:cs typeface="Arial"/>
                        <a:sym typeface="Arial"/>
                      </a:endParaRPr>
                    </a:p>
                  </a:txBody>
                  <a:tcPr marL="28450" marR="28450" marT="14050" marB="14050" anchor="ctr">
                    <a:lnL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2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505A6F06-ADD2-575F-8AC0-1DA752C96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>
            <a:extLst>
              <a:ext uri="{FF2B5EF4-FFF2-40B4-BE49-F238E27FC236}">
                <a16:creationId xmlns:a16="http://schemas.microsoft.com/office/drawing/2014/main" id="{710B4708-DB9A-44F7-1739-545F0BD3DDB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740" y="76111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Proposed Methodology</a:t>
            </a:r>
            <a:endParaRPr sz="24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3" name="Google Shape;153;p30">
                <a:extLst>
                  <a:ext uri="{FF2B5EF4-FFF2-40B4-BE49-F238E27FC236}">
                    <a16:creationId xmlns:a16="http://schemas.microsoft.com/office/drawing/2014/main" id="{A1183675-A461-4826-4A12-AE19F4D970FB}"/>
                  </a:ext>
                </a:extLst>
              </p:cNvPr>
              <p:cNvSpPr txBox="1">
                <a:spLocks noGrp="1"/>
              </p:cNvSpPr>
              <p:nvPr>
                <p:ph type="body" idx="1"/>
              </p:nvPr>
            </p:nvSpPr>
            <p:spPr>
              <a:xfrm>
                <a:off x="215590" y="1189464"/>
                <a:ext cx="8712819" cy="36799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68400" tIns="34200" rIns="68400" bIns="34200" anchor="t" anchorCtr="0">
                <a:noAutofit/>
              </a:bodyPr>
              <a:lstStyle/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latin typeface="Georgia" panose="02040502050405020303" pitchFamily="18" charset="0"/>
                  </a:rPr>
                  <a:t>Data Collection: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Collect real-time ambient metrics (temperature, humidity, timestamps) using IoT edge sensors alongside stakeholder batch declarations.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Data Validation: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Deploy the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AI Trust Layer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(physical plausibility checks and an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Isolation Forest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ML model) to detect and quarantine abnormal or spoofed readings.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Blockchain Recording: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Anchor cryptographic audit hashes, trust scores, and verified state transitions on the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blockchain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to guarantee tamper resistance.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Smart Contracts: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Use customized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Solidity smart contracts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to automate cold-chain SLA penalty calculations, custody transfers, and escrow fund management.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Traceability: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Track produce across strict sequential custody stages: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Farmer </a:t>
                </a:r>
                <a14:m>
                  <m:oMath xmlns:m="http://schemas.openxmlformats.org/officeDocument/2006/math">
                    <m:r>
                      <a:rPr lang="en-IN" sz="1200"/>
                      <m:t>→</m:t>
                    </m:r>
                  </m:oMath>
                </a14:m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Distributor </a:t>
                </a:r>
                <a14:m>
                  <m:oMath xmlns:m="http://schemas.openxmlformats.org/officeDocument/2006/math">
                    <m:r>
                      <a:rPr lang="en-IN" sz="1200"/>
                      <m:t>→</m:t>
                    </m:r>
                  </m:oMath>
                </a14:m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Retailer </a:t>
                </a:r>
                <a14:m>
                  <m:oMath xmlns:m="http://schemas.openxmlformats.org/officeDocument/2006/math">
                    <m:r>
                      <a:rPr lang="en-IN" sz="1200"/>
                      <m:t>→</m:t>
                    </m:r>
                  </m:oMath>
                </a14:m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Consumer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Farmer Payment: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Execute automated, rule-based escrow payouts in integer currency units (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paise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) to guarantee prompt, fair compensation without unfair deductions.</a:t>
                </a:r>
              </a:p>
              <a:p>
                <a:pPr lvl="0" algn="just">
                  <a:buFont typeface="+mj-lt"/>
                  <a:buAutoNum type="arabicPeriod"/>
                </a:pP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Monitoring &amp; Verification: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Provide stakeholders with live quarantine audit feeds and consumers with instant </a:t>
                </a:r>
                <a:r>
                  <a:rPr lang="en-IN" sz="1200" b="1" dirty="0">
                    <a:effectLst/>
                    <a:latin typeface="Georgia" panose="02040502050405020303" pitchFamily="18" charset="0"/>
                  </a:rPr>
                  <a:t>QR-code verification</a:t>
                </a:r>
                <a:r>
                  <a:rPr lang="en-IN" sz="1200" dirty="0">
                    <a:effectLst/>
                    <a:latin typeface="Georgia" panose="02040502050405020303" pitchFamily="18" charset="0"/>
                  </a:rPr>
                  <a:t> of crop origin and quality trust.</a:t>
                </a:r>
              </a:p>
            </p:txBody>
          </p:sp>
        </mc:Choice>
        <mc:Fallback>
          <p:sp>
            <p:nvSpPr>
              <p:cNvPr id="153" name="Google Shape;153;p30">
                <a:extLst>
                  <a:ext uri="{FF2B5EF4-FFF2-40B4-BE49-F238E27FC236}">
                    <a16:creationId xmlns:a16="http://schemas.microsoft.com/office/drawing/2014/main" id="{A1183675-A461-4826-4A12-AE19F4D970F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215590" y="1189464"/>
                <a:ext cx="8712819" cy="3679902"/>
              </a:xfrm>
              <a:prstGeom prst="rect">
                <a:avLst/>
              </a:prstGeom>
              <a:blipFill>
                <a:blip r:embed="rId3"/>
                <a:stretch>
                  <a:fillRect r="-280" b="-662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202487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9EB873EC-C2F6-2E7B-A4DF-C8513ADDF6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>
            <a:extLst>
              <a:ext uri="{FF2B5EF4-FFF2-40B4-BE49-F238E27FC236}">
                <a16:creationId xmlns:a16="http://schemas.microsoft.com/office/drawing/2014/main" id="{C25EB938-B813-F84A-5EC3-3BB082F6C0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740" y="72394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lvl="0" algn="ctr">
              <a:lnSpc>
                <a:spcPct val="90000"/>
              </a:lnSpc>
              <a:buClr>
                <a:schemeClr val="dk1"/>
              </a:buClr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How It Is Better Than Existing Systems</a:t>
            </a:r>
            <a:endParaRPr sz="2400" b="0" u="none" strike="noStrike" dirty="0">
              <a:solidFill>
                <a:srgbClr val="C00000"/>
              </a:solidFill>
              <a:latin typeface="Georgia" panose="02040502050405020303" pitchFamily="18" charset="0"/>
              <a:cs typeface="Times New Roman" panose="02020603050405020304" pitchFamily="18" charset="0"/>
              <a:sym typeface="Arial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B9B8434A-7F63-5A84-33A6-3B58FAC059E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7401903"/>
              </p:ext>
            </p:extLst>
          </p:nvPr>
        </p:nvGraphicFramePr>
        <p:xfrm>
          <a:off x="267629" y="1370014"/>
          <a:ext cx="8593874" cy="3543958"/>
        </p:xfrm>
        <a:graphic>
          <a:graphicData uri="http://schemas.openxmlformats.org/drawingml/2006/table">
            <a:tbl>
              <a:tblPr>
                <a:tableStyleId>{4467A970-1193-4587-A75E-64EC327A8FCE}</a:tableStyleId>
              </a:tblPr>
              <a:tblGrid>
                <a:gridCol w="4296937">
                  <a:extLst>
                    <a:ext uri="{9D8B030D-6E8A-4147-A177-3AD203B41FA5}">
                      <a16:colId xmlns:a16="http://schemas.microsoft.com/office/drawing/2014/main" val="3033668777"/>
                    </a:ext>
                  </a:extLst>
                </a:gridCol>
                <a:gridCol w="4296937">
                  <a:extLst>
                    <a:ext uri="{9D8B030D-6E8A-4147-A177-3AD203B41FA5}">
                      <a16:colId xmlns:a16="http://schemas.microsoft.com/office/drawing/2014/main" val="376383474"/>
                    </a:ext>
                  </a:extLst>
                </a:gridCol>
              </a:tblGrid>
              <a:tr h="31642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Existing Systems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Our Proposed System (</a:t>
                      </a:r>
                      <a:r>
                        <a:rPr lang="en-IN" sz="1400" b="1" dirty="0" err="1">
                          <a:effectLst/>
                          <a:latin typeface="Georgia" panose="02040502050405020303" pitchFamily="18" charset="0"/>
                        </a:rPr>
                        <a:t>AgriChain</a:t>
                      </a:r>
                      <a:r>
                        <a:rPr lang="en-IN" sz="1400" b="1" dirty="0">
                          <a:effectLst/>
                          <a:latin typeface="Georgia" panose="02040502050405020303" pitchFamily="18" charset="0"/>
                        </a:rPr>
                        <a:t>)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1018181284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Blindly trusts IoT data (Garbage-In, Garbage-Out).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effectLst/>
                          <a:latin typeface="Georgia" panose="02040502050405020303" pitchFamily="18" charset="0"/>
                        </a:rPr>
                        <a:t>• AI Trust Layer filters and quarantines faulty or spoofed telemetry.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1791443908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Centralized records can be altered, delayed, or lost.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Blockchain immutability guarantees tamper-proof custody history.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3508195314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Manual quality checks cause disputes and unfair deductions.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Smart contracts automatically calculate cold-chain SLA penalties.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3101773172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effectLst/>
                          <a:latin typeface="Georgia" panose="02040502050405020303" pitchFamily="18" charset="0"/>
                        </a:rPr>
                        <a:t>• Delayed farmer payments controlled by intermediaries.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Automated escrow guarantees prompt, direct-to-farmer payouts.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2302101119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effectLst/>
                          <a:latin typeface="Georgia" panose="02040502050405020303" pitchFamily="18" charset="0"/>
                        </a:rPr>
                        <a:t>• Consumers have no way to verify product journey or freshness.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QR-code verification gives consumers full provenance transparency.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2850303826"/>
                  </a:ext>
                </a:extLst>
              </a:tr>
              <a:tr h="537922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>
                          <a:effectLst/>
                          <a:latin typeface="Georgia" panose="02040502050405020303" pitchFamily="18" charset="0"/>
                        </a:rPr>
                        <a:t>• Private logs offer no real-time auditability.</a:t>
                      </a:r>
                    </a:p>
                  </a:txBody>
                  <a:tcPr marL="87383" marR="87383" marT="43692" marB="43692"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sz="1400" dirty="0">
                          <a:effectLst/>
                          <a:latin typeface="Georgia" panose="02040502050405020303" pitchFamily="18" charset="0"/>
                        </a:rPr>
                        <a:t>• Live quarantine audit feed provides transparent system oversight.</a:t>
                      </a:r>
                    </a:p>
                  </a:txBody>
                  <a:tcPr marL="87383" marR="87383" marT="43692" marB="43692" anchor="ctr"/>
                </a:tc>
                <a:extLst>
                  <a:ext uri="{0D108BD9-81ED-4DB2-BD59-A6C34878D82A}">
                    <a16:rowId xmlns:a16="http://schemas.microsoft.com/office/drawing/2014/main" val="16917917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2657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6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Flowchart</a:t>
            </a:r>
            <a:endParaRPr sz="40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0" name="Google Shape;190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37" descr="Generated image: IoT-to-Blockchain Process Flowchart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400" b="0" u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p37" descr="Mthodology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876240"/>
            <a:ext cx="9143640" cy="4030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8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System</a:t>
            </a:r>
            <a:r>
              <a:rPr lang="en-IN" sz="4000" b="0" u="none" strike="noStrike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Architecture</a:t>
            </a:r>
            <a:endParaRPr sz="4000" b="0" u="none" strike="noStrike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DD905CD-0019-8DDD-3A79-861F26BEA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80585"/>
            <a:ext cx="9144000" cy="436291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40"/>
          <p:cNvSpPr txBox="1">
            <a:spLocks noGrp="1"/>
          </p:cNvSpPr>
          <p:nvPr>
            <p:ph type="title"/>
          </p:nvPr>
        </p:nvSpPr>
        <p:spPr>
          <a:xfrm>
            <a:off x="653400" y="1914480"/>
            <a:ext cx="7836840" cy="13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>
                <a:solidFill>
                  <a:srgbClr val="C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 &amp; Hardware Requirements Specification</a:t>
            </a:r>
            <a:endParaRPr sz="3200">
              <a:solidFill>
                <a:srgbClr val="C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599790B-CB42-41A0-5534-D368639A76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140055"/>
              </p:ext>
            </p:extLst>
          </p:nvPr>
        </p:nvGraphicFramePr>
        <p:xfrm>
          <a:off x="204439" y="854926"/>
          <a:ext cx="8735122" cy="4180435"/>
        </p:xfrm>
        <a:graphic>
          <a:graphicData uri="http://schemas.openxmlformats.org/drawingml/2006/table">
            <a:tbl>
              <a:tblPr>
                <a:tableStyleId>{4467A970-1193-4587-A75E-64EC327A8FCE}</a:tableStyleId>
              </a:tblPr>
              <a:tblGrid>
                <a:gridCol w="2406080">
                  <a:extLst>
                    <a:ext uri="{9D8B030D-6E8A-4147-A177-3AD203B41FA5}">
                      <a16:colId xmlns:a16="http://schemas.microsoft.com/office/drawing/2014/main" val="1857874818"/>
                    </a:ext>
                  </a:extLst>
                </a:gridCol>
                <a:gridCol w="3180681">
                  <a:extLst>
                    <a:ext uri="{9D8B030D-6E8A-4147-A177-3AD203B41FA5}">
                      <a16:colId xmlns:a16="http://schemas.microsoft.com/office/drawing/2014/main" val="1535169512"/>
                    </a:ext>
                  </a:extLst>
                </a:gridCol>
                <a:gridCol w="3148361">
                  <a:extLst>
                    <a:ext uri="{9D8B030D-6E8A-4147-A177-3AD203B41FA5}">
                      <a16:colId xmlns:a16="http://schemas.microsoft.com/office/drawing/2014/main" val="1792566438"/>
                    </a:ext>
                  </a:extLst>
                </a:gridCol>
              </a:tblGrid>
              <a:tr h="27252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Georgia" panose="02040502050405020303" pitchFamily="18" charset="0"/>
                        </a:rPr>
                        <a:t>Category</a:t>
                      </a:r>
                      <a:endParaRPr lang="en-IN" sz="11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5981" marR="35981" marT="29984" marB="2998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Georgia" panose="02040502050405020303" pitchFamily="18" charset="0"/>
                        </a:rPr>
                        <a:t>Component / Specification</a:t>
                      </a:r>
                      <a:endParaRPr lang="en-IN" sz="11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5981" marR="35981" marT="29984" marB="29984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b="1" u="none" strike="noStrike" dirty="0">
                          <a:effectLst/>
                          <a:latin typeface="Georgia" panose="02040502050405020303" pitchFamily="18" charset="0"/>
                        </a:rPr>
                        <a:t>Purpose in Architecture</a:t>
                      </a:r>
                      <a:endParaRPr lang="en-IN" sz="11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5981" marR="35981" marT="29984" marB="29984" anchor="ctr"/>
                </a:tc>
                <a:extLst>
                  <a:ext uri="{0D108BD9-81ED-4DB2-BD59-A6C34878D82A}">
                    <a16:rowId xmlns:a16="http://schemas.microsoft.com/office/drawing/2014/main" val="786594066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Operating System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Windows 11 / Linux Ubuntu 22.04 LTS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Host environment for local nodes, backend, and development servers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561619554"/>
                  </a:ext>
                </a:extLst>
              </a:tr>
              <a:tr h="455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Programming Languages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Python 3.11+, Solidity 0.8.28, JavaScript (ES6+), HTML5/CSS3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Core backend, smart contract development, and web application programming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2924089535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Blockchain &amp; Tooling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Hardhat v2.22, Polygon Amoy 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Testnet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 (Chain ID 80002)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EVM execution environment, compilation, testing, and deployment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2721970304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Smart Contract Library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OpenZeppelin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 Contracts v5.0 (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AccessControl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Pausable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)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Audited role-based access control and emergency circuit breaker patterns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2318083758"/>
                  </a:ext>
                </a:extLst>
              </a:tr>
              <a:tr h="455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AI &amp; Machine Learning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Scikit-Learn (Isolation Forest), NumPy, SciPy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Unsupervised anomaly detection, multi-dimensional feature engineering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4282398775"/>
                  </a:ext>
                </a:extLst>
              </a:tr>
              <a:tr h="455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Backend Web Framework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FastAPI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, 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Uvicorn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 (ASGI), Web3.py v6.x, 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Pydantic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 v2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High-throughput asynchronous REST API, blockchain </a:t>
                      </a:r>
                      <a:r>
                        <a:rPr lang="en-IN" sz="1100" u="none" strike="noStrike" dirty="0" err="1">
                          <a:effectLst/>
                          <a:latin typeface="Georgia" panose="02040502050405020303" pitchFamily="18" charset="0"/>
                        </a:rPr>
                        <a:t>relayer</a:t>
                      </a: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, schema validation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2653069616"/>
                  </a:ext>
                </a:extLst>
              </a:tr>
              <a:tr h="554039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Database &amp; Storage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PostgreSQL (Supabase IPv4 Pooler), SQLite 3 (WAL mode), Pinata IPFS Gateway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Dual-engine relational storage, tamper-evident hash chaining, decentralized document pinning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99485013"/>
                  </a:ext>
                </a:extLst>
              </a:tr>
              <a:tr h="455211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Frontend Framework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React 18, Vite v6.0, Tailwind CSS v3.4, Lucide React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Responsive multi-role UI dashboards (Farmer, Logistics, Dark Store, Consumer, Admin)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645929207"/>
                  </a:ext>
                </a:extLst>
              </a:tr>
              <a:tr h="375187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IoT Hardware / Sim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>
                          <a:effectLst/>
                          <a:latin typeface="Georgia" panose="02040502050405020303" pitchFamily="18" charset="0"/>
                        </a:rPr>
                        <a:t>ESP32 DevKit v1, DHT22 Sensor, NEO-6M GPS, Python CLI Simulator</a:t>
                      </a:r>
                      <a:endParaRPr lang="en-IN" sz="11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100" u="none" strike="noStrike" dirty="0">
                          <a:effectLst/>
                          <a:latin typeface="Georgia" panose="02040502050405020303" pitchFamily="18" charset="0"/>
                        </a:rPr>
                        <a:t>Physical and synthetic multi-fault environmental telemetry streaming</a:t>
                      </a:r>
                      <a:endParaRPr lang="en-IN" sz="11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2983" marR="32983" marT="23988" marB="23988" anchor="ctr"/>
                </a:tc>
                <a:extLst>
                  <a:ext uri="{0D108BD9-81ED-4DB2-BD59-A6C34878D82A}">
                    <a16:rowId xmlns:a16="http://schemas.microsoft.com/office/drawing/2014/main" val="404207426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6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Use Case Diagram</a:t>
            </a:r>
            <a:endParaRPr sz="3200">
              <a:solidFill>
                <a:srgbClr val="C00000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4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77240"/>
            <a:ext cx="9143640" cy="43660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>
          <a:extLst>
            <a:ext uri="{FF2B5EF4-FFF2-40B4-BE49-F238E27FC236}">
              <a16:creationId xmlns:a16="http://schemas.microsoft.com/office/drawing/2014/main" id="{4099CF1B-84B3-1CFE-A150-F0B1F5E52B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0">
            <a:extLst>
              <a:ext uri="{FF2B5EF4-FFF2-40B4-BE49-F238E27FC236}">
                <a16:creationId xmlns:a16="http://schemas.microsoft.com/office/drawing/2014/main" id="{7DD91A5B-DFF2-EBEB-CF32-5BDF95C9CB1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740" y="72394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cs typeface="Times New Roman"/>
                <a:sym typeface="Times New Roman"/>
              </a:rPr>
              <a:t>Key Features</a:t>
            </a:r>
            <a:endParaRPr sz="24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153" name="Google Shape;153;p30">
            <a:extLst>
              <a:ext uri="{FF2B5EF4-FFF2-40B4-BE49-F238E27FC236}">
                <a16:creationId xmlns:a16="http://schemas.microsoft.com/office/drawing/2014/main" id="{5A3CD083-7876-F1AA-BB67-9381F6F8115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48683" y="1363300"/>
            <a:ext cx="8846633" cy="36207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IoT-Based Real-Time Monitoring (Simulator) –</a:t>
            </a:r>
            <a:r>
              <a:rPr lang="en-IN" sz="1300" dirty="0">
                <a:latin typeface="Georgia" panose="02040502050405020303" pitchFamily="18" charset="0"/>
              </a:rPr>
              <a:t> Simulates real-time cold-chain environmental streams (temperature, humidity, and location) to monitor perishable crop health continuously during storage and transit.</a:t>
            </a:r>
          </a:p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AI Trust Layer –</a:t>
            </a:r>
            <a:r>
              <a:rPr lang="en-IN" sz="1300" dirty="0">
                <a:latin typeface="Georgia" panose="02040502050405020303" pitchFamily="18" charset="0"/>
              </a:rPr>
              <a:t> Serves as an intelligent gatekeeper using physical plausibility rules and an </a:t>
            </a:r>
            <a:r>
              <a:rPr lang="en-IN" sz="1300" b="1" dirty="0">
                <a:latin typeface="Georgia" panose="02040502050405020303" pitchFamily="18" charset="0"/>
              </a:rPr>
              <a:t>Isolation Forest</a:t>
            </a:r>
            <a:r>
              <a:rPr lang="en-IN" sz="1300" dirty="0">
                <a:latin typeface="Georgia" panose="02040502050405020303" pitchFamily="18" charset="0"/>
              </a:rPr>
              <a:t> model to detect and quarantine faulty, drifted, or tampered sensor readings before blockchain entry.</a:t>
            </a:r>
          </a:p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Blockchain-Based Traceability –</a:t>
            </a:r>
            <a:r>
              <a:rPr lang="en-IN" sz="1300" dirty="0">
                <a:latin typeface="Georgia" panose="02040502050405020303" pitchFamily="18" charset="0"/>
              </a:rPr>
              <a:t> Immutably logs every verified batch lifecycle event and cryptographic audit hash on a decentralized ledger, preventing retrospective record tampering.</a:t>
            </a:r>
          </a:p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Customized Smart Contracts –</a:t>
            </a:r>
            <a:r>
              <a:rPr lang="en-IN" sz="1300" dirty="0">
                <a:latin typeface="Georgia" panose="02040502050405020303" pitchFamily="18" charset="0"/>
              </a:rPr>
              <a:t> Governs strict sequential custody transfers (REGISTERED → IN_TRANSIT → IN_STORAGE → AT_RETAIL → SOLD) and automatically calculates penalties for cold-chain SLA breaches.</a:t>
            </a:r>
          </a:p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Transparent Farmer Payments –</a:t>
            </a:r>
            <a:r>
              <a:rPr lang="en-IN" sz="1300" dirty="0">
                <a:latin typeface="Georgia" panose="02040502050405020303" pitchFamily="18" charset="0"/>
              </a:rPr>
              <a:t> Locks buyer deposits in automated smart contract escrow, releasing prompt, direct payouts to farmers without intermediary delays or arbitrary quality cuts.</a:t>
            </a:r>
          </a:p>
          <a:p>
            <a:pPr lvl="0" algn="just"/>
            <a:r>
              <a:rPr lang="en-IN" sz="1300" b="1" dirty="0">
                <a:latin typeface="Georgia" panose="02040502050405020303" pitchFamily="18" charset="0"/>
              </a:rPr>
              <a:t>End-to-End Supply Chain Visibility –</a:t>
            </a:r>
            <a:r>
              <a:rPr lang="en-IN" sz="1300" dirty="0">
                <a:latin typeface="Georgia" panose="02040502050405020303" pitchFamily="18" charset="0"/>
              </a:rPr>
              <a:t> Provides role-based dashboards with real-time quarantine audit feeds for stakeholders, and instant </a:t>
            </a:r>
            <a:r>
              <a:rPr lang="en-IN" sz="1300" b="1" dirty="0">
                <a:latin typeface="Georgia" panose="02040502050405020303" pitchFamily="18" charset="0"/>
              </a:rPr>
              <a:t>QR-code verification</a:t>
            </a:r>
            <a:r>
              <a:rPr lang="en-IN" sz="1300" dirty="0">
                <a:latin typeface="Georgia" panose="02040502050405020303" pitchFamily="18" charset="0"/>
              </a:rPr>
              <a:t> for consumers to check crop origin and freshness.</a:t>
            </a:r>
            <a:endParaRPr lang="en-IN" sz="1300" dirty="0">
              <a:effectLst/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0969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Design &amp; Implementation</a:t>
            </a:r>
            <a:endParaRPr sz="3200">
              <a:solidFill>
                <a:srgbClr val="C00000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4" name="Google Shape;264;p4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794520"/>
            <a:ext cx="9143640" cy="4348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0768765-B574-B8E9-92E4-29BCC99224B0}"/>
              </a:ext>
            </a:extLst>
          </p:cNvPr>
          <p:cNvSpPr txBox="1"/>
          <p:nvPr/>
        </p:nvSpPr>
        <p:spPr>
          <a:xfrm>
            <a:off x="1287966" y="810322"/>
            <a:ext cx="656806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Farmer Dashboard for Agricultural Product and Batch Registration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8CDE369-5C92-6FDA-752B-DA6BF7A1A4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8099"/>
            <a:ext cx="9144000" cy="4025401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59B2B76-B70E-F139-95F8-73E07C89CBF9}"/>
              </a:ext>
            </a:extLst>
          </p:cNvPr>
          <p:cNvSpPr txBox="1"/>
          <p:nvPr/>
        </p:nvSpPr>
        <p:spPr>
          <a:xfrm>
            <a:off x="1881768" y="817178"/>
            <a:ext cx="5380463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Logistics Dashboard for Product Dispatch and Tracking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D5AC9-295D-DE56-B5B8-3B3659FF3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4955"/>
            <a:ext cx="9144000" cy="401854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7F3A7CE-A1BD-0928-944D-ADD17CA219EC}"/>
              </a:ext>
            </a:extLst>
          </p:cNvPr>
          <p:cNvSpPr txBox="1"/>
          <p:nvPr/>
        </p:nvSpPr>
        <p:spPr>
          <a:xfrm>
            <a:off x="899531" y="799187"/>
            <a:ext cx="734493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Dark-Store Dashboard for Product Receiving and Inventory Management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DE7D12-11E2-E46B-B0B9-88F420646F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06964"/>
            <a:ext cx="9144000" cy="403653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F9A7C50-4565-70D1-880C-F76619399F80}"/>
              </a:ext>
            </a:extLst>
          </p:cNvPr>
          <p:cNvSpPr txBox="1"/>
          <p:nvPr/>
        </p:nvSpPr>
        <p:spPr>
          <a:xfrm>
            <a:off x="1719146" y="802309"/>
            <a:ext cx="570570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Consumer Interface for QR-Based Product Traceability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311574-28EC-E579-8481-6DEE1BE9BF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46280"/>
            <a:ext cx="9144000" cy="39972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C02BA7B8-5832-6427-9EFE-4FD8F3229E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E62193-281B-515D-330C-22B59B07CA84}"/>
              </a:ext>
            </a:extLst>
          </p:cNvPr>
          <p:cNvSpPr txBox="1"/>
          <p:nvPr/>
        </p:nvSpPr>
        <p:spPr>
          <a:xfrm>
            <a:off x="926480" y="802309"/>
            <a:ext cx="729103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Georgia" panose="02040502050405020303" pitchFamily="18" charset="0"/>
              </a:rPr>
              <a:t>Administrative Dashboard for Supply Chain Governance and Circuit Breakers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8D616CB-92DE-D2D8-BE8C-E9EAC71287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1110086"/>
            <a:ext cx="9144000" cy="403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8770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C10B4F15-5A4C-F5BF-565C-BBF3A31E70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8">
            <a:extLst>
              <a:ext uri="{FF2B5EF4-FFF2-40B4-BE49-F238E27FC236}">
                <a16:creationId xmlns:a16="http://schemas.microsoft.com/office/drawing/2014/main" id="{6AF0F840-2EF8-BDB2-362B-F863D38A08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Results</a:t>
            </a:r>
            <a:endParaRPr sz="3200" dirty="0">
              <a:solidFill>
                <a:srgbClr val="C00000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1228478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0C7875FD-1E51-F7E4-6827-301DE117D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1D1EAD5-471B-B091-7A2A-6D16AB1059E0}"/>
              </a:ext>
            </a:extLst>
          </p:cNvPr>
          <p:cNvSpPr txBox="1"/>
          <p:nvPr/>
        </p:nvSpPr>
        <p:spPr>
          <a:xfrm>
            <a:off x="1689410" y="794876"/>
            <a:ext cx="57651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AI Trust Layer for IoT Telemetry Validation and Checkpoints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800E249-ECC9-939A-1FC9-ABFA6B93C8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" y="1085436"/>
            <a:ext cx="3018262" cy="405806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C9DB6A9-5E6C-2929-3CF8-4E2C162363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8264" y="1116290"/>
            <a:ext cx="3018263" cy="40272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78EE6EC-2758-D01F-9B7A-2DF1EDD44D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6527" y="1196899"/>
            <a:ext cx="3107472" cy="3946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51936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>
          <a:extLst>
            <a:ext uri="{FF2B5EF4-FFF2-40B4-BE49-F238E27FC236}">
              <a16:creationId xmlns:a16="http://schemas.microsoft.com/office/drawing/2014/main" id="{112201D5-7D72-87C7-03BA-D8480A1B7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4EBB906-3C09-C71E-5041-51AC05B3FE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095662"/>
            <a:ext cx="9144000" cy="404783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F284AF1-D0AE-E187-279C-16E0FA152F41}"/>
              </a:ext>
            </a:extLst>
          </p:cNvPr>
          <p:cNvSpPr txBox="1"/>
          <p:nvPr/>
        </p:nvSpPr>
        <p:spPr>
          <a:xfrm>
            <a:off x="1450588" y="787885"/>
            <a:ext cx="62428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Farm-to-Fork Product Journey with Cumulative Price Breakdown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90494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37E454C1-2BBF-68BC-6AC7-851733A50D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107EB02-9F94-F217-D235-FAAA703894B5}"/>
              </a:ext>
            </a:extLst>
          </p:cNvPr>
          <p:cNvSpPr txBox="1"/>
          <p:nvPr/>
        </p:nvSpPr>
        <p:spPr>
          <a:xfrm>
            <a:off x="0" y="937108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AI-Based Telemetry Anomaly Detection and Quarantine Isolation</a:t>
            </a:r>
            <a:endParaRPr lang="en-IN" dirty="0">
              <a:latin typeface="Georgia" panose="02040502050405020303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A52964-8AFD-7D40-5CFF-3E9D30BF8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3" y="1727374"/>
            <a:ext cx="4572000" cy="29189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EB4D4D-77BE-3404-309D-9BB4A0A55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273" y="1709852"/>
            <a:ext cx="3895493" cy="304800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670A6-5B7E-87DB-8A10-BEAF6A0B4A50}"/>
              </a:ext>
            </a:extLst>
          </p:cNvPr>
          <p:cNvSpPr txBox="1"/>
          <p:nvPr/>
        </p:nvSpPr>
        <p:spPr>
          <a:xfrm>
            <a:off x="4644483" y="930079"/>
            <a:ext cx="4572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1400" b="1" i="0" u="none" strike="noStrike" dirty="0">
                <a:solidFill>
                  <a:srgbClr val="000000"/>
                </a:solidFill>
                <a:effectLst/>
                <a:latin typeface="Georgia" panose="02040502050405020303" pitchFamily="18" charset="0"/>
              </a:rPr>
              <a:t>Confusion Matrix of the AI-Based Anomaly Detection Model</a:t>
            </a:r>
            <a:endParaRPr lang="en-IN" dirty="0">
              <a:latin typeface="Georgia" panose="020405020504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39484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>
          <a:extLst>
            <a:ext uri="{FF2B5EF4-FFF2-40B4-BE49-F238E27FC236}">
              <a16:creationId xmlns:a16="http://schemas.microsoft.com/office/drawing/2014/main" id="{282DAAFA-D82D-E3AC-5DDB-EF3990CFD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DC63EBE-C4A7-C108-28B7-DD22194330CC}"/>
              </a:ext>
            </a:extLst>
          </p:cNvPr>
          <p:cNvSpPr txBox="1"/>
          <p:nvPr/>
        </p:nvSpPr>
        <p:spPr>
          <a:xfrm>
            <a:off x="999892" y="794876"/>
            <a:ext cx="7144215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b="1" dirty="0">
                <a:latin typeface="Georgia" panose="02040502050405020303" pitchFamily="18" charset="0"/>
              </a:rPr>
              <a:t>Recorded End-to-End System Verification Outcomes (PRD Section 6 Suite)</a:t>
            </a:r>
            <a:endParaRPr lang="en-IN" dirty="0">
              <a:latin typeface="Georgia" panose="02040502050405020303" pitchFamily="18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2C517B-D82E-840E-605F-929B43930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195935"/>
              </p:ext>
            </p:extLst>
          </p:nvPr>
        </p:nvGraphicFramePr>
        <p:xfrm>
          <a:off x="427463" y="1162126"/>
          <a:ext cx="8289072" cy="3875145"/>
        </p:xfrm>
        <a:graphic>
          <a:graphicData uri="http://schemas.openxmlformats.org/drawingml/2006/table">
            <a:tbl>
              <a:tblPr>
                <a:tableStyleId>{4467A970-1193-4587-A75E-64EC327A8FCE}</a:tableStyleId>
              </a:tblPr>
              <a:tblGrid>
                <a:gridCol w="2501436">
                  <a:extLst>
                    <a:ext uri="{9D8B030D-6E8A-4147-A177-3AD203B41FA5}">
                      <a16:colId xmlns:a16="http://schemas.microsoft.com/office/drawing/2014/main" val="38116760"/>
                    </a:ext>
                  </a:extLst>
                </a:gridCol>
                <a:gridCol w="2538221">
                  <a:extLst>
                    <a:ext uri="{9D8B030D-6E8A-4147-A177-3AD203B41FA5}">
                      <a16:colId xmlns:a16="http://schemas.microsoft.com/office/drawing/2014/main" val="1832741575"/>
                    </a:ext>
                  </a:extLst>
                </a:gridCol>
                <a:gridCol w="3249415">
                  <a:extLst>
                    <a:ext uri="{9D8B030D-6E8A-4147-A177-3AD203B41FA5}">
                      <a16:colId xmlns:a16="http://schemas.microsoft.com/office/drawing/2014/main" val="1822626419"/>
                    </a:ext>
                  </a:extLst>
                </a:gridCol>
              </a:tblGrid>
              <a:tr h="253305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u="none" strike="noStrike" dirty="0">
                          <a:effectLst/>
                          <a:latin typeface="Georgia" panose="02040502050405020303" pitchFamily="18" charset="0"/>
                        </a:rPr>
                        <a:t>Verification Area / Sub-System</a:t>
                      </a:r>
                      <a:endParaRPr lang="en-IN" sz="10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3038" marR="43038" marT="35865" marB="3586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u="none" strike="noStrike" dirty="0">
                          <a:effectLst/>
                          <a:latin typeface="Georgia" panose="02040502050405020303" pitchFamily="18" charset="0"/>
                        </a:rPr>
                        <a:t>Recorded Outcome</a:t>
                      </a:r>
                      <a:endParaRPr lang="en-IN" sz="10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3038" marR="43038" marT="35865" marB="35865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b="1" u="none" strike="noStrike" dirty="0">
                          <a:effectLst/>
                          <a:latin typeface="Georgia" panose="02040502050405020303" pitchFamily="18" charset="0"/>
                        </a:rPr>
                        <a:t>Scope of Automated Validation</a:t>
                      </a:r>
                      <a:endParaRPr lang="en-IN" sz="1000" b="1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43038" marR="43038" marT="35865" marB="35865" anchor="ctr"/>
                </a:tc>
                <a:extLst>
                  <a:ext uri="{0D108BD9-81ED-4DB2-BD59-A6C34878D82A}">
                    <a16:rowId xmlns:a16="http://schemas.microsoft.com/office/drawing/2014/main" val="2933221788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 dirty="0">
                          <a:effectLst/>
                          <a:latin typeface="Georgia" panose="02040502050405020303" pitchFamily="18" charset="0"/>
                        </a:rPr>
                        <a:t>Modular Smart-Contract RBAC Checks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Gating of registerBatch, transferCustody, recordCondition to assigned roles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1158755672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Batched Condition Oracle Writes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EVM transaction execution of recordConditionsBatch fitting single gas slot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689270221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AI Trust Multi-Fault Evaluation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Detection of all 7 fault profiles (temp spikes, GPS teleportation, replay attacks)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1346447793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Multi-Role Supply Chain Journey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State progression: REGISTERED -&gt; IN_TRANSIT -&gt; IN_STORAGE -&gt; AT_RETAIL -&gt; SOLD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4239396522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IoT Hardware Breach &amp; Push-Button Quarantine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Interception of 48 C thermal breaches and routing to quarantine hash-chain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3519495120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Decentralized IPFS Quality Certificates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Pinata upload, CID generation (ipfs://Qm...), and on-chain hash anchoring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3234933862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Dark Store Inbound Receiving &amp; Checkout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GRN bay allocation, micro-inventory update, and retail checkout execution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3327183195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Consumer Reviews &amp; Rating Aggregation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Verified review submission strictly for SOLD batches with 5-star scoring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965740768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Multi-Stage Fair Price Distribution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Cumulative paise calculation verifying farmer price share transparency (50.0%)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1362885765"/>
                  </a:ext>
                </a:extLst>
              </a:tr>
              <a:tr h="346474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Smart Contract Pausable Circuit Breakers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IN" sz="1000" u="none" strike="noStrike">
                          <a:effectLst/>
                          <a:latin typeface="Georgia" panose="02040502050405020303" pitchFamily="18" charset="0"/>
                        </a:rPr>
                        <a:t>PASS</a:t>
                      </a:r>
                      <a:endParaRPr lang="en-IN" sz="100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tc>
                  <a:txBody>
                    <a:bodyPr/>
                    <a:lstStyle/>
                    <a:p>
                      <a:pPr rtl="0" fontAlgn="ctr">
                        <a:buNone/>
                      </a:pPr>
                      <a:r>
                        <a:rPr lang="en-IN" sz="1000" u="none" strike="noStrike" dirty="0">
                          <a:effectLst/>
                          <a:latin typeface="Georgia" panose="02040502050405020303" pitchFamily="18" charset="0"/>
                        </a:rPr>
                        <a:t>Administrative emergency pause reverting state mutations with </a:t>
                      </a:r>
                      <a:r>
                        <a:rPr lang="en-IN" sz="1000" u="none" strike="noStrike" dirty="0" err="1">
                          <a:effectLst/>
                          <a:latin typeface="Georgia" panose="02040502050405020303" pitchFamily="18" charset="0"/>
                        </a:rPr>
                        <a:t>EnforcedPause</a:t>
                      </a:r>
                      <a:r>
                        <a:rPr lang="en-IN" sz="1000" u="none" strike="noStrike" dirty="0">
                          <a:effectLst/>
                          <a:latin typeface="Georgia" panose="02040502050405020303" pitchFamily="18" charset="0"/>
                        </a:rPr>
                        <a:t> error</a:t>
                      </a:r>
                      <a:endParaRPr lang="en-IN" sz="1000" dirty="0">
                        <a:effectLst/>
                        <a:latin typeface="Georgia" panose="02040502050405020303" pitchFamily="18" charset="0"/>
                      </a:endParaRPr>
                    </a:p>
                  </a:txBody>
                  <a:tcPr marL="39452" marR="39452" marT="28692" marB="28692" anchor="ctr"/>
                </a:tc>
                <a:extLst>
                  <a:ext uri="{0D108BD9-81ED-4DB2-BD59-A6C34878D82A}">
                    <a16:rowId xmlns:a16="http://schemas.microsoft.com/office/drawing/2014/main" val="865516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896268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>
          <a:extLst>
            <a:ext uri="{FF2B5EF4-FFF2-40B4-BE49-F238E27FC236}">
              <a16:creationId xmlns:a16="http://schemas.microsoft.com/office/drawing/2014/main" id="{BEBE74E3-0FEA-B0CB-2BA3-6A7385D698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>
            <a:extLst>
              <a:ext uri="{FF2B5EF4-FFF2-40B4-BE49-F238E27FC236}">
                <a16:creationId xmlns:a16="http://schemas.microsoft.com/office/drawing/2014/main" id="{46F9D894-CCEC-9389-1100-53B33DCB5E1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4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Future</a:t>
            </a:r>
            <a:r>
              <a:rPr lang="en-IN" sz="24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 </a:t>
            </a: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Scopes</a:t>
            </a:r>
            <a:endParaRPr sz="3200" b="0" u="none" strike="noStrike" dirty="0">
              <a:solidFill>
                <a:srgbClr val="C00000"/>
              </a:solidFill>
              <a:latin typeface="Georgia" panose="02040502050405020303" pitchFamily="18" charset="0"/>
              <a:sym typeface="Arial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856A3A-A3E6-8AAE-D138-4CF140B3DF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6321493"/>
              </p:ext>
            </p:extLst>
          </p:nvPr>
        </p:nvGraphicFramePr>
        <p:xfrm>
          <a:off x="271346" y="1541846"/>
          <a:ext cx="8601308" cy="3229052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300654">
                  <a:extLst>
                    <a:ext uri="{9D8B030D-6E8A-4147-A177-3AD203B41FA5}">
                      <a16:colId xmlns:a16="http://schemas.microsoft.com/office/drawing/2014/main" val="1980297659"/>
                    </a:ext>
                  </a:extLst>
                </a:gridCol>
                <a:gridCol w="4300654">
                  <a:extLst>
                    <a:ext uri="{9D8B030D-6E8A-4147-A177-3AD203B41FA5}">
                      <a16:colId xmlns:a16="http://schemas.microsoft.com/office/drawing/2014/main" val="127297211"/>
                    </a:ext>
                  </a:extLst>
                </a:gridCol>
              </a:tblGrid>
              <a:tr h="8072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Advanced AI Validation: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Deep learning for temporal trend analysis and predictive anomaly scoring.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Automated Payments: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Smart contract integration with real-world banking rails and UPI/CBDC.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1220684"/>
                  </a:ext>
                </a:extLst>
              </a:tr>
              <a:tr h="8072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Real-Time IoT Hardware: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Deploying physical edge sensors (temperature, humidity, GPS) across transit fleets.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Farmer Mobile App: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Multilingual, low-connectivity app designed for rural crop registration.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16307456"/>
                  </a:ext>
                </a:extLst>
              </a:tr>
              <a:tr h="8072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Scalability &amp; Layer-2: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Rollup architectures and off-chain storage to handle multi-regional scale at low cost.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Govt &amp; Market Linkages: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Connecting with e-NAM and agricultural portals for price discovery.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3875022"/>
                  </a:ext>
                </a:extLst>
              </a:tr>
              <a:tr h="807263"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Data Privacy &amp; ZKPs: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Zero-knowledge proofs to safeguard commercial secrets while proving compliance.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>
                        <a:buNone/>
                      </a:pPr>
                      <a:r>
                        <a:rPr lang="en-IN" b="1" dirty="0">
                          <a:effectLst/>
                          <a:latin typeface="Georgia" panose="02040502050405020303" pitchFamily="18" charset="0"/>
                        </a:rPr>
                        <a:t>• Cross-Chain Interoperability: </a:t>
                      </a:r>
                      <a:r>
                        <a:rPr lang="en-IN" dirty="0">
                          <a:effectLst/>
                          <a:latin typeface="Georgia" panose="02040502050405020303" pitchFamily="18" charset="0"/>
                        </a:rPr>
                        <a:t>Interconnecting different public and enterprise blockchains.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321454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1916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54"/>
          <p:cNvSpPr txBox="1">
            <a:spLocks noGrp="1"/>
          </p:cNvSpPr>
          <p:nvPr>
            <p:ph type="title"/>
          </p:nvPr>
        </p:nvSpPr>
        <p:spPr>
          <a:xfrm>
            <a:off x="628560" y="850320"/>
            <a:ext cx="7886400" cy="63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Conclusion</a:t>
            </a:r>
            <a:endParaRPr sz="3200" b="0" u="none" strike="noStrike" dirty="0">
              <a:solidFill>
                <a:srgbClr val="C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290" name="Google Shape;290;p54"/>
          <p:cNvSpPr txBox="1">
            <a:spLocks noGrp="1"/>
          </p:cNvSpPr>
          <p:nvPr>
            <p:ph type="body" idx="1"/>
          </p:nvPr>
        </p:nvSpPr>
        <p:spPr>
          <a:xfrm>
            <a:off x="322410" y="1489620"/>
            <a:ext cx="8498700" cy="31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lvl="0" algn="just"/>
            <a:r>
              <a:rPr lang="en-IN" sz="1400" dirty="0">
                <a:latin typeface="Georgia" panose="02040502050405020303" pitchFamily="18" charset="0"/>
              </a:rPr>
              <a:t>The system overcomes the blockchain-IoT Oracle dilemma by validating sensor telemetry through an </a:t>
            </a:r>
            <a:r>
              <a:rPr lang="en-IN" sz="1400" b="1" dirty="0">
                <a:latin typeface="Georgia" panose="02040502050405020303" pitchFamily="18" charset="0"/>
              </a:rPr>
              <a:t>AI Trust Layer</a:t>
            </a:r>
            <a:r>
              <a:rPr lang="en-IN" sz="1400" dirty="0">
                <a:latin typeface="Georgia" panose="02040502050405020303" pitchFamily="18" charset="0"/>
              </a:rPr>
              <a:t> before committing data on-chain.</a:t>
            </a:r>
          </a:p>
          <a:p>
            <a:pPr lvl="0" algn="just"/>
            <a:r>
              <a:rPr lang="en-IN" sz="1400" dirty="0">
                <a:latin typeface="Georgia" panose="02040502050405020303" pitchFamily="18" charset="0"/>
              </a:rPr>
              <a:t>Immutable smart contracts provide verifiable, end-to-end produce traceability across strict forward-only custody stages from farm to retail.</a:t>
            </a:r>
          </a:p>
          <a:p>
            <a:pPr lvl="0" algn="just"/>
            <a:r>
              <a:rPr lang="en-IN" sz="1400" dirty="0">
                <a:latin typeface="Georgia" panose="02040502050405020303" pitchFamily="18" charset="0"/>
              </a:rPr>
              <a:t>Automated cold-chain SLA monitoring replaces subjective manual inspections with objective, real-time penalty deductions.</a:t>
            </a:r>
          </a:p>
          <a:p>
            <a:pPr lvl="0" algn="just"/>
            <a:r>
              <a:rPr lang="en-IN" sz="1400" dirty="0">
                <a:latin typeface="Georgia" panose="02040502050405020303" pitchFamily="18" charset="0"/>
              </a:rPr>
              <a:t>Direct smart contract escrow settlements guarantee prompt, transparent, and fair compensation for farmers without intermediary cuts.</a:t>
            </a:r>
          </a:p>
          <a:p>
            <a:pPr lvl="0" algn="just"/>
            <a:r>
              <a:rPr lang="en-IN" sz="1400" dirty="0">
                <a:latin typeface="Georgia" panose="02040502050405020303" pitchFamily="18" charset="0"/>
              </a:rPr>
              <a:t>Consumers gain complete trust in crop origin and freshness through instant </a:t>
            </a:r>
            <a:r>
              <a:rPr lang="en-IN" sz="1400" b="1" dirty="0">
                <a:latin typeface="Georgia" panose="02040502050405020303" pitchFamily="18" charset="0"/>
              </a:rPr>
              <a:t>QR-code verification</a:t>
            </a:r>
            <a:r>
              <a:rPr lang="en-IN" sz="1400" dirty="0">
                <a:latin typeface="Georgia" panose="02040502050405020303" pitchFamily="18" charset="0"/>
              </a:rPr>
              <a:t> backed by real-time audit logs.</a:t>
            </a:r>
            <a:endParaRPr lang="en-IN" sz="1400" dirty="0">
              <a:effectLst/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55"/>
          <p:cNvSpPr txBox="1">
            <a:spLocks noGrp="1"/>
          </p:cNvSpPr>
          <p:nvPr>
            <p:ph type="title"/>
          </p:nvPr>
        </p:nvSpPr>
        <p:spPr>
          <a:xfrm>
            <a:off x="471600" y="637920"/>
            <a:ext cx="8275320" cy="90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Times New Roman"/>
              <a:buNone/>
            </a:pPr>
            <a:r>
              <a:rPr lang="en-IN" sz="3200" b="0" u="none" strike="noStrike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References</a:t>
            </a:r>
            <a:endParaRPr sz="3200" b="0" u="none" strike="noStrike" dirty="0">
              <a:solidFill>
                <a:srgbClr val="000000"/>
              </a:solidFill>
              <a:latin typeface="Georgia" panose="02040502050405020303" pitchFamily="18" charset="0"/>
              <a:sym typeface="Arial"/>
            </a:endParaRPr>
          </a:p>
        </p:txBody>
      </p:sp>
      <p:sp>
        <p:nvSpPr>
          <p:cNvPr id="296" name="Google Shape;296;p55"/>
          <p:cNvSpPr txBox="1">
            <a:spLocks noGrp="1"/>
          </p:cNvSpPr>
          <p:nvPr>
            <p:ph type="body" idx="1"/>
          </p:nvPr>
        </p:nvSpPr>
        <p:spPr>
          <a:xfrm>
            <a:off x="471600" y="1459800"/>
            <a:ext cx="8118300" cy="354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t" anchorCtr="0">
            <a:noAutofit/>
          </a:bodyPr>
          <a:lstStyle/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[1] A. Agrawal et al., "Optimizing Supply Chain Management With IoE and AI," 2025. </a:t>
            </a: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[2] M. Mohamed, A. Al-Saleh, A. Sharma, and M. Tejani, "Zero-Day Exploits Detection with Adaptive </a:t>
            </a:r>
            <a:r>
              <a:rPr lang="en-IN" sz="1600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WavePCA</a:t>
            </a: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-Autoencoder (AWPA) Adaptive Hybrid Exploit Detection Network (</a:t>
            </a:r>
            <a:r>
              <a:rPr lang="en-IN" sz="1600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AHEDNet</a:t>
            </a: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)," Scientific Reports, 2025. </a:t>
            </a: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[3] A. Maurya et al., "Blockchain-Driven Security for IoT Networks: State-of-the-Art, Challenges and Future Directions," Peer-to-Peer Networking and Applications, 2025.</a:t>
            </a: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[4] D. </a:t>
            </a:r>
            <a:r>
              <a:rPr lang="en-IN" sz="1600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Dudczyk</a:t>
            </a: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, M. Dunston, and M. Crosby, "Blockchain Technology for Global Supply Chain Management: A Survey of Applications, Challenges, Opportunities and Implications," IEEE Access, 2024.</a:t>
            </a: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30"/>
              <a:buFont typeface="Arial"/>
              <a:buNone/>
            </a:pP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[5] S. </a:t>
            </a:r>
            <a:r>
              <a:rPr lang="en-IN" sz="1600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Yavaprabhas</a:t>
            </a: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, R. Kurnia, M. </a:t>
            </a:r>
            <a:r>
              <a:rPr lang="en-IN" sz="1600" dirty="0" err="1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Seyedghorban</a:t>
            </a:r>
            <a:r>
              <a:rPr lang="en-IN" sz="1600" dirty="0">
                <a:solidFill>
                  <a:schemeClr val="dk1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, and D. Samson, "Demystifying the Impact of Blockchain on Trust in Emerging and Established Relationships: A Case of Organic Food Supply Chains," 2024.</a:t>
            </a:r>
            <a:endParaRPr sz="1600" dirty="0">
              <a:solidFill>
                <a:schemeClr val="dk1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56"/>
          <p:cNvSpPr txBox="1">
            <a:spLocks noGrp="1"/>
          </p:cNvSpPr>
          <p:nvPr>
            <p:ph type="title"/>
          </p:nvPr>
        </p:nvSpPr>
        <p:spPr>
          <a:xfrm>
            <a:off x="628560" y="2251800"/>
            <a:ext cx="7886520" cy="639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400" tIns="34200" rIns="68400" bIns="34200" anchor="ctr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imes New Roman"/>
              <a:buNone/>
            </a:pPr>
            <a:r>
              <a:rPr lang="en-IN" sz="3200" dirty="0">
                <a:solidFill>
                  <a:srgbClr val="C00000"/>
                </a:solidFill>
                <a:latin typeface="Georgia" panose="02040502050405020303" pitchFamily="18" charset="0"/>
                <a:ea typeface="Times New Roman"/>
                <a:cs typeface="Times New Roman"/>
                <a:sym typeface="Times New Roman"/>
              </a:rPr>
              <a:t>Thank You </a:t>
            </a:r>
            <a:endParaRPr sz="3200" dirty="0">
              <a:solidFill>
                <a:srgbClr val="C00000"/>
              </a:solidFill>
              <a:latin typeface="Georgia" panose="02040502050405020303" pitchFamily="18" charset="0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eme1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323</TotalTime>
  <Words>2861</Words>
  <Application>Microsoft Office PowerPoint</Application>
  <PresentationFormat>On-screen Show (16:9)</PresentationFormat>
  <Paragraphs>316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38</vt:i4>
      </vt:variant>
    </vt:vector>
  </HeadingPairs>
  <TitlesOfParts>
    <vt:vector size="46" baseType="lpstr">
      <vt:lpstr>Arial</vt:lpstr>
      <vt:lpstr>Calibri</vt:lpstr>
      <vt:lpstr>Georgia</vt:lpstr>
      <vt:lpstr>Noto Sans Symbols</vt:lpstr>
      <vt:lpstr>Times New Roman</vt:lpstr>
      <vt:lpstr>Times New Roman</vt:lpstr>
      <vt:lpstr>Simple Light</vt:lpstr>
      <vt:lpstr>Theme1</vt:lpstr>
      <vt:lpstr>“A Decentralized IoT-Blockchain Framework with Customized Smart Contracts for Transparent and Traceable Agricultural Supply Chains”</vt:lpstr>
      <vt:lpstr>Agenda</vt:lpstr>
      <vt:lpstr>Introduction</vt:lpstr>
      <vt:lpstr>Problem Statement</vt:lpstr>
      <vt:lpstr>Objectives</vt:lpstr>
      <vt:lpstr>Scope</vt:lpstr>
      <vt:lpstr>Literature Survey</vt:lpstr>
      <vt:lpstr>PowerPoint Presentation</vt:lpstr>
      <vt:lpstr>PowerPoint Presentation</vt:lpstr>
      <vt:lpstr>PowerPoint Presentation</vt:lpstr>
      <vt:lpstr>PowerPoint Presentation</vt:lpstr>
      <vt:lpstr>Proposed Methodology</vt:lpstr>
      <vt:lpstr>How It Is Better Than Existing Systems</vt:lpstr>
      <vt:lpstr>Flowchart</vt:lpstr>
      <vt:lpstr>PowerPoint Presentation</vt:lpstr>
      <vt:lpstr>System Architecture</vt:lpstr>
      <vt:lpstr>PowerPoint Presentation</vt:lpstr>
      <vt:lpstr>Software &amp; Hardware Requirements Specification</vt:lpstr>
      <vt:lpstr>PowerPoint Presentation</vt:lpstr>
      <vt:lpstr>Use Case Diagram</vt:lpstr>
      <vt:lpstr>PowerPoint Presentation</vt:lpstr>
      <vt:lpstr>Key Features</vt:lpstr>
      <vt:lpstr>Design &amp; Implementation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Future Scopes</vt:lpstr>
      <vt:lpstr>Conclusion</vt:lpstr>
      <vt:lpstr>References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Umer Khan</dc:creator>
  <cp:lastModifiedBy>Umer Khan</cp:lastModifiedBy>
  <cp:revision>16</cp:revision>
  <dcterms:modified xsi:type="dcterms:W3CDTF">2026-10-24T20:43:19Z</dcterms:modified>
</cp:coreProperties>
</file>